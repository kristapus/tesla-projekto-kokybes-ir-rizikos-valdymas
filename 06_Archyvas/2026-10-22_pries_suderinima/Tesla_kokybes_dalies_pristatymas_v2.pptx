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00df5e23c94a4d" /><Relationship Type="http://schemas.openxmlformats.org/officeDocument/2006/relationships/extended-properties" Target="/docProps/app.xml" Id="R7a22661a96484250" /><Relationship Type="http://schemas.openxmlformats.org/officeDocument/2006/relationships/officeDocument" Target="/ppt/presentation.xml" Id="R520572754dae444d" /></Relationships>
</file>

<file path=ppt/presentation.xml><?xml version="1.0" encoding="utf-8"?>
<p:presentation xmlns:p="http://schemas.openxmlformats.org/presentationml/2006/main">
  <p:sldMasterIdLst>
    <p:sldMasterId xmlns:r="http://schemas.openxmlformats.org/officeDocument/2006/relationships" id="2147483648" r:id="Rb55f97393d7746b7"/>
  </p:sldMasterIdLst>
  <p:notesMasterIdLst>
    <p:notesMasterId xmlns:r="http://schemas.openxmlformats.org/officeDocument/2006/relationships" r:id="R6ecd212b7d914014"/>
  </p:notesMasterIdLst>
  <p:sldIdLst>
    <p:sldId xmlns:r="http://schemas.openxmlformats.org/officeDocument/2006/relationships" id="256" r:id="R6e9d0384494c42b2"/>
    <p:sldId xmlns:r="http://schemas.openxmlformats.org/officeDocument/2006/relationships" id="257" r:id="R2e0625fbed044986"/>
    <p:sldId xmlns:r="http://schemas.openxmlformats.org/officeDocument/2006/relationships" id="258" r:id="Rbbd076be55bf41e0"/>
    <p:sldId xmlns:r="http://schemas.openxmlformats.org/officeDocument/2006/relationships" id="259" r:id="R608d6527463c4ad3"/>
    <p:sldId xmlns:r="http://schemas.openxmlformats.org/officeDocument/2006/relationships" id="260" r:id="Rc27e6deefde74a2e"/>
    <p:sldId xmlns:r="http://schemas.openxmlformats.org/officeDocument/2006/relationships" id="261" r:id="Rad07fd9c4f4a4a54"/>
    <p:sldId xmlns:r="http://schemas.openxmlformats.org/officeDocument/2006/relationships" id="262" r:id="R0496e5bff7bc48b3"/>
    <p:sldId xmlns:r="http://schemas.openxmlformats.org/officeDocument/2006/relationships" id="263" r:id="R1f74cdad720846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bf501644ae447c" /><Relationship Type="http://schemas.openxmlformats.org/officeDocument/2006/relationships/slideMaster" Target="/ppt/slideMasters/slideMaster1.xml" Id="Rb55f97393d7746b7" /><Relationship Type="http://schemas.openxmlformats.org/officeDocument/2006/relationships/notesMaster" Target="/ppt/notesMasters/notesMaster1.xml" Id="R6ecd212b7d914014" /><Relationship Type="http://schemas.openxmlformats.org/officeDocument/2006/relationships/presProps" Target="/ppt/presProps.xml" Id="Rf75617eeddf84a20" /><Relationship Type="http://schemas.openxmlformats.org/officeDocument/2006/relationships/tableStyles" Target="/ppt/tableStyles.xml" Id="R92701ed36ca646ca" /><Relationship Type="http://schemas.openxmlformats.org/officeDocument/2006/relationships/slide" Target="/ppt/slides/slide1.xml" Id="R6e9d0384494c42b2" /><Relationship Type="http://schemas.openxmlformats.org/officeDocument/2006/relationships/slide" Target="/ppt/slides/slide2.xml" Id="R2e0625fbed044986" /><Relationship Type="http://schemas.openxmlformats.org/officeDocument/2006/relationships/slide" Target="/ppt/slides/slide3.xml" Id="Rbbd076be55bf41e0" /><Relationship Type="http://schemas.openxmlformats.org/officeDocument/2006/relationships/slide" Target="/ppt/slides/slide4.xml" Id="R608d6527463c4ad3" /><Relationship Type="http://schemas.openxmlformats.org/officeDocument/2006/relationships/slide" Target="/ppt/slides/slide5.xml" Id="Rc27e6deefde74a2e" /><Relationship Type="http://schemas.openxmlformats.org/officeDocument/2006/relationships/slide" Target="/ppt/slides/slide6.xml" Id="Rad07fd9c4f4a4a54" /><Relationship Type="http://schemas.openxmlformats.org/officeDocument/2006/relationships/slide" Target="/ppt/slides/slide7.xml" Id="R0496e5bff7bc48b3" /><Relationship Type="http://schemas.openxmlformats.org/officeDocument/2006/relationships/slide" Target="/ppt/slides/slide8.xml" Id="R1f74cdad720846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bafe14346a42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d1dfd19bcf406b" /><Relationship Type="http://schemas.openxmlformats.org/officeDocument/2006/relationships/notesMaster" Target="/ppt/notesMasters/notesMaster1.xml" Id="R35ccdda1e02c47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7854940ef8473d" /><Relationship Type="http://schemas.openxmlformats.org/officeDocument/2006/relationships/notesMaster" Target="/ppt/notesMasters/notesMaster1.xml" Id="Rfc844ce6ca6d4c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52125b75074e5a" /><Relationship Type="http://schemas.openxmlformats.org/officeDocument/2006/relationships/notesMaster" Target="/ppt/notesMasters/notesMaster1.xml" Id="R5e2377a44de24c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ec1c2ac9d34f99" /><Relationship Type="http://schemas.openxmlformats.org/officeDocument/2006/relationships/notesMaster" Target="/ppt/notesMasters/notesMaster1.xml" Id="R731c5d188ebb4b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a69b3af661465a" /><Relationship Type="http://schemas.openxmlformats.org/officeDocument/2006/relationships/notesMaster" Target="/ppt/notesMasters/notesMaster1.xml" Id="Re2ca7d97fd0146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a6a09508d84277" /><Relationship Type="http://schemas.openxmlformats.org/officeDocument/2006/relationships/notesMaster" Target="/ppt/notesMasters/notesMaster1.xml" Id="R4bba2040500249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83650d7964462d" /><Relationship Type="http://schemas.openxmlformats.org/officeDocument/2006/relationships/notesMaster" Target="/ppt/notesMasters/notesMaster1.xml" Id="Rf886b406569245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3834e7fde641b3" /><Relationship Type="http://schemas.openxmlformats.org/officeDocument/2006/relationships/notesMaster" Target="/ppt/notesMasters/notesMaster1.xml" Id="Rfb0a7a43385845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Grupės sudėtį vartotojas patvirtino. Projekto tema ir siauresnė apimtis paimta iš naujesnės projekto ataskaitos 2 skyriaus. Tai akademinis modelis: nereiškiame, kad turime Tesla įgaliojimą ar jau įgyvendinome kampaniją. Aštuonios skaidrės yra rekomenduojama struktūra, nes oficiali trukmė ir skaidrių skaičius nepaskelbti.</a:t>
            </a:r>
          </a:p>
          <a:p xmlns:a="http://schemas.openxmlformats.org/drawingml/2006/main">
            <a:r>
              <a:t/>
            </a:r>
          </a:p>
          <a:p xmlns:a="http://schemas.openxmlformats.org/drawingml/2006/main">
            <a:r>
              <a:t>Šaltinis: S1: titulinis, 2 sk.; vartotojo patvirtinta grupė.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Tikslas – stiprinti teigiamą įvaizdį tvarumo srityje. Iš tikslo išvedami penki priimami rezultatai. Automobilių programavimas, baterijų tyrimai ir serviso plėtra lieka senesnėje apimtyje, šiam planui jie neperimami. S1 uždaviniuose nurodyti du renginiai turi prioritetą prieš rinkos skyriuje likusį trijų renginių scenarijų. Šaltinis nurodo tris video kas mėnesį; aktyvių mėnesių M naudojimas yra siūloma planavimo prielaida, kol kampanijos trukmė nesuderinta. Pardavimų augimas – galima netiesioginė nauda, kurios studentų grupė tiesiogiai nevaldo.</a:t>
            </a:r>
          </a:p>
          <a:p xmlns:a="http://schemas.openxmlformats.org/drawingml/2006/main">
            <a:r>
              <a:t/>
            </a:r>
          </a:p>
          <a:p xmlns:a="http://schemas.openxmlformats.org/drawingml/2006/main">
            <a:r>
              <a:t>Šaltinis: S1: 2 ir 3.2 sk.; S2: 4 lent. (senesnė apimtis).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Senesnis kalendorinis grafikas turi klaidų, todėl dabar siūlome santykinius priėmimo vartus. G2 taikomi visam viešinamam turiniui, taip pat renginio pristatymui. Registracija renginyje dar nėra tikras dalyvavimas. Fiziniai CSR rezultatai priimami su partneriu ir matavimo įrodymu. Spalio 29 d. pristatome planą, ne teiginį, kad jau perėjome įgyvendinimo vartus. Tikras kampanijos ir veiklų grafikas dar turi būti suderintas.</a:t>
            </a:r>
          </a:p>
          <a:p xmlns:a="http://schemas.openxmlformats.org/drawingml/2006/main">
            <a:r>
              <a:t/>
            </a:r>
          </a:p>
          <a:p xmlns:a="http://schemas.openxmlformats.org/drawingml/2006/main">
            <a:r>
              <a:t>Šaltinis: S4: ciklo fazės ir procesai; S1: uždaviniai; naujo plano 2–3 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Visų keturių kriterijų faktinės reikšmės dar nepamatuotos. K-01 tikrinami visi esminiai teiginiai ir šaltinio taikymo ribos. K-03 matuoja nustatymų atitiktį patvirtintai šaliai, kalbai, kanalui ir auditorijai, ne visų faktiškai pasiektų žmonių tinkamumą. K-08 reikalauja svorio ir perdavimo duomenų kiekvienai užregistruotai atliekų rūšiai; taip pat plane numatyta sodinimo kokybė ir vėlesnė apžiūra. K-09 yra pilotinis pasiūlymas: 4–5 balais pasitikinčių dalis po minus prieš, procentiniais punktais. Siūloma ne mažiau kaip 100 pilnų respondentų porų, tačiau tai negarantuoja reprezentatyvumo ar statistinės galios. Visame plane yra 10 kriterijų su dažniu, savininku, įrodymu ir reakcija.</a:t>
            </a:r>
          </a:p>
          <a:p xmlns:a="http://schemas.openxmlformats.org/drawingml/2006/main">
            <a:r>
              <a:t/>
            </a:r>
          </a:p>
          <a:p xmlns:a="http://schemas.openxmlformats.org/drawingml/2006/main">
            <a:r>
              <a:t>Šaltinis: Naujo plano 5.1 sk., K-01 / K-03 / K-08 / K-09; ribos – mūsų pasiūlymai.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Autorius savo rezultato vienas nepriima. Užtikrinimas – ankstyvas reikalavimų, faktų ir matavimo formų derinimas, kad klaidų neatsirastų. Kontrolė – parengto turinio ar atliktos veiklos patikra. Komanda aktyvią projekto savaitę peržiūri įrodymų bei neatitikčių būseną; kiekvienas video tikrinamas prieš leidimą, o veiklos – prieš ir po įgyvendinimo. Išorinio savininko ar organizatoriaus suderinimo studentų peržiūra nepakeičia. Istoriniai specialistų vaidmenys ir įkainiai nėra teiginys apie įdarbintus projekto žmones.</a:t>
            </a:r>
          </a:p>
          <a:p xmlns:a="http://schemas.openxmlformats.org/drawingml/2006/main">
            <a:r>
              <a:t/>
            </a:r>
          </a:p>
          <a:p xmlns:a="http://schemas.openxmlformats.org/drawingml/2006/main">
            <a:r>
              <a:t>Šaltinis: Naujo plano 4.1 ir 5.2 sk.; vardiniai vaidmenys – siūlomi.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Sąmoningai nerodome šių skaičių kaip projekto fakto. Absoliutus teiginys neatskiria naudojimo ir viso gyvavimo ciklo, todėl gali klaidinti. Reakcija – stabdyti leidimą, grįžti prie šaltinio, tikslinti sakinį ir atnaujinti visus jį kartojančius maketus. Nauja versija vertinama iš naujo; vien skaičiaus pakeitimas registre nėra taisymo įrodymas. Jei tokia klaida kartotųsi, faktų peržiūrą perkeltume prieš montažą ir atnaujintume scenarijaus kontrolinį sąrašą.</a:t>
            </a:r>
          </a:p>
          <a:p xmlns:a="http://schemas.openxmlformats.org/drawingml/2006/main">
            <a:r>
              <a:t/>
            </a:r>
          </a:p>
          <a:p xmlns:a="http://schemas.openxmlformats.org/drawingml/2006/main">
            <a:r>
              <a:t>Šaltinis: Naujo plano 5.2.2 sk.; visi pavyzdžio duomenys hipotetiniai.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Neslepiame pradinio projekto neatitikimų. 66 716 EUR suma gaunama iš metinių naujesnės ataskaitos veiklos išlaidų; kiekvienų metų darbo, paslaugų ir rinkodaros eilutės su metine suma sutampa. 98 474 EUR bendras stulpelis nesutampa, galbūt dėl laikotarpių, bet tam nustatyti reikia skaičiuoklės. Tekstas teigia, kad tiesioginių pajamų nėra, o lentelė jų pateikia, todėl grąžos rodikliais šio kokybės plano nepagrindžiame. Prieš tvirtinant biudžetą reikės susiaurintai apimčiai perskirstyti sąnaudas ir patikrinti PVM. Kokybės patikrų sąnaudos turi būti išskirtos nedubliuojant jau įtrauktų darbų.</a:t>
            </a:r>
          </a:p>
          <a:p xmlns:a="http://schemas.openxmlformats.org/drawingml/2006/main">
            <a:r>
              <a:t/>
            </a:r>
          </a:p>
          <a:p xmlns:a="http://schemas.openxmlformats.org/drawingml/2006/main">
            <a:r>
              <a:t>Šaltinis: S1: 2 sk., 3–4 lent. ir 5 sk. tekstas; atsekamumo žurnalas.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Aiškiai atskiriame parengtą valdymo dokumentą nuo neįgyvendintų kampanijos ir CSR veiklų. Papildomai dėstytojai verta aptarti piloto apimtį ir ar būtini tikri vykdymo duomenys, ar vertinama planavimo metodika. Spalio 29 d. pristatymo trukmė ir skaidrių skaičius oficialiai nepaskelbti. Gruodžio 17 d. numatyta konsultacija, sausį – individualus plano gynimas. Visi nariai turi suprasti visą dokumentą. Ataskaita sudaro 40 % modulio pažymio; jos penki 20 % kriterijai yra vidinis ataskaitos vertinimas. Diskusija sudaro 20 %, du tarpiniai egzaminai kartu 40 %.</a:t>
            </a:r>
          </a:p>
          <a:p xmlns:a="http://schemas.openxmlformats.org/drawingml/2006/main">
            <a:r>
              <a:t/>
            </a:r>
          </a:p>
          <a:p xmlns:a="http://schemas.openxmlformats.org/drawingml/2006/main">
            <a:r>
              <a:t>Šaltinis: Naujo plano būsena; Moodle grafikas; S5 14 ir 18 psl.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e428bdc82242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ed07ce885d44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ee78b6c5884a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4c8cb827ef4a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cc05e23a454e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4db319b58a48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ADB004-8A24-422C-88DD-77495B651B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3A14E7-90C0-4F51-903B-3DD02A61C1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3D81D9-744F-4802-9698-7784677D67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6D0B5C-6B6B-4DD7-AAD8-E3C74F76F6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BDC70D-5A76-4571-9AEB-C3F5719BAE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FE9F69-75CF-49CC-82C1-32AF36F059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DE5590-71DF-496E-8F82-BC97DE4C30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796556-0820-44F5-9EEA-34128DC2C2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B85366-E059-4191-9B97-AF8E2895F0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D21429-956A-4112-8A16-0EEEEA5263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39ec6528474d19" /><Relationship Type="http://schemas.openxmlformats.org/officeDocument/2006/relationships/slideLayout" Target="/ppt/slideLayouts/slideLayout1.xml" Id="R05b08fe9bf3a4698" /><Relationship Type="http://schemas.openxmlformats.org/officeDocument/2006/relationships/slideLayout" Target="/ppt/slideLayouts/slideLayout2.xml" Id="R5981081df21642f8" /><Relationship Type="http://schemas.openxmlformats.org/officeDocument/2006/relationships/slideLayout" Target="/ppt/slideLayouts/slideLayout3.xml" Id="R5a7e9167ec6c45d9" /><Relationship Type="http://schemas.openxmlformats.org/officeDocument/2006/relationships/slideLayout" Target="/ppt/slideLayouts/slideLayout4.xml" Id="Rce629ebabe394e10" /><Relationship Type="http://schemas.openxmlformats.org/officeDocument/2006/relationships/slideLayout" Target="/ppt/slideLayouts/slideLayout5.xml" Id="R986d61d171c54d35" /><Relationship Type="http://schemas.openxmlformats.org/officeDocument/2006/relationships/slideLayout" Target="/ppt/slideLayouts/slideLayout6.xml" Id="R71a2427ce9f34c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b08fe9bf3a4698"/>
    <p:sldLayoutId xmlns:r="http://schemas.openxmlformats.org/officeDocument/2006/relationships" id="2147483650" r:id="R5981081df21642f8"/>
    <p:sldLayoutId xmlns:r="http://schemas.openxmlformats.org/officeDocument/2006/relationships" id="2147483651" r:id="R5a7e9167ec6c45d9"/>
    <p:sldLayoutId xmlns:r="http://schemas.openxmlformats.org/officeDocument/2006/relationships" id="2147483652" r:id="Rce629ebabe394e10"/>
    <p:sldLayoutId xmlns:r="http://schemas.openxmlformats.org/officeDocument/2006/relationships" id="2147483653" r:id="R986d61d171c54d35"/>
    <p:sldLayoutId xmlns:r="http://schemas.openxmlformats.org/officeDocument/2006/relationships" id="2147483654" r:id="R71a2427ce9f34c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3684e33d5b4c36" /><Relationship Type="http://schemas.openxmlformats.org/officeDocument/2006/relationships/notesSlide" Target="/ppt/notesSlides/notesSlide1.xml" Id="Radbda16f1bf54b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0fd13cf8c44e2f" /><Relationship Type="http://schemas.openxmlformats.org/officeDocument/2006/relationships/notesSlide" Target="/ppt/notesSlides/notesSlide2.xml" Id="Rb077746917ed4a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9464c6a8ca49a2" /><Relationship Type="http://schemas.openxmlformats.org/officeDocument/2006/relationships/notesSlide" Target="/ppt/notesSlides/notesSlide3.xml" Id="R048df8c5818049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c020bcdb90471a" /><Relationship Type="http://schemas.openxmlformats.org/officeDocument/2006/relationships/notesSlide" Target="/ppt/notesSlides/notesSlide4.xml" Id="R1090d5f959d24d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a89cb55874404e" /><Relationship Type="http://schemas.openxmlformats.org/officeDocument/2006/relationships/notesSlide" Target="/ppt/notesSlides/notesSlide5.xml" Id="R38ca4fcc16d847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13266b09704f64" /><Relationship Type="http://schemas.openxmlformats.org/officeDocument/2006/relationships/notesSlide" Target="/ppt/notesSlides/notesSlide6.xml" Id="R473057fa88314d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39523d6167c4597" /><Relationship Type="http://schemas.openxmlformats.org/officeDocument/2006/relationships/notesSlide" Target="/ppt/notesSlides/notesSlide7.xml" Id="R3318156e90c649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c94d047abf4081" /><Relationship Type="http://schemas.openxmlformats.org/officeDocument/2006/relationships/notesSlide" Target="/ppt/notesSlides/notesSlide8.xml" Id="Re93070ceb9484e6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C9B3BF-09F0-4C09-A75D-C00EE4448697}"/>
              </a:ext>
            </a:extLst>
          </p:cNvPr>
          <p:cNvSpPr>
            <a:spLocks xmlns:a="http://schemas.openxmlformats.org/drawingml/2006/main" noGrp="1"/>
          </p:cNvSpPr>
          <p:nvPr/>
        </p:nvSpPr>
        <p:spPr>
          <a:xfrm xmlns:a="http://schemas.openxmlformats.org/drawingml/2006/main">
            <a:off x="723900" y="11430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5191F"/>
                </a:solidFill>
                <a:latin typeface="Arial"/>
                <a:ea typeface="Arial"/>
                <a:cs typeface="Arial"/>
              </a:defRPr>
            </a:defPPr>
            <a:lvl1pPr>
              <a:defRPr sz="4500" b="1">
                <a:solidFill>
                  <a:srgbClr val="15191F"/>
                </a:solidFill>
                <a:latin typeface="Arial"/>
                <a:ea typeface="Arial"/>
                <a:cs typeface="Arial"/>
              </a:defRPr>
            </a:lvl1pPr>
            <a:lvl2pPr>
              <a:defRPr sz="4500" b="1">
                <a:solidFill>
                  <a:srgbClr val="15191F"/>
                </a:solidFill>
                <a:latin typeface="Arial"/>
                <a:ea typeface="Arial"/>
                <a:cs typeface="Arial"/>
              </a:defRPr>
            </a:lvl2pPr>
            <a:lvl3pPr>
              <a:defRPr sz="4500" b="1">
                <a:solidFill>
                  <a:srgbClr val="15191F"/>
                </a:solidFill>
                <a:latin typeface="Arial"/>
                <a:ea typeface="Arial"/>
                <a:cs typeface="Arial"/>
              </a:defRPr>
            </a:lvl3pPr>
            <a:lvl4pPr>
              <a:defRPr sz="4500" b="1">
                <a:solidFill>
                  <a:srgbClr val="15191F"/>
                </a:solidFill>
                <a:latin typeface="Arial"/>
                <a:ea typeface="Arial"/>
                <a:cs typeface="Arial"/>
              </a:defRPr>
            </a:lvl4pPr>
            <a:lvl5pPr>
              <a:defRPr sz="4500" b="1">
                <a:solidFill>
                  <a:srgbClr val="15191F"/>
                </a:solidFill>
                <a:latin typeface="Arial"/>
                <a:ea typeface="Arial"/>
                <a:cs typeface="Arial"/>
              </a:defRPr>
            </a:lvl5pPr>
            <a:lvl6pPr>
              <a:defRPr sz="4500" b="1">
                <a:solidFill>
                  <a:srgbClr val="15191F"/>
                </a:solidFill>
                <a:latin typeface="Arial"/>
                <a:ea typeface="Arial"/>
                <a:cs typeface="Arial"/>
              </a:defRPr>
            </a:lvl6pPr>
            <a:lvl7pPr>
              <a:defRPr sz="4500" b="1">
                <a:solidFill>
                  <a:srgbClr val="15191F"/>
                </a:solidFill>
                <a:latin typeface="Arial"/>
                <a:ea typeface="Arial"/>
                <a:cs typeface="Arial"/>
              </a:defRPr>
            </a:lvl7pPr>
            <a:lvl8pPr>
              <a:defRPr sz="4500" b="1">
                <a:solidFill>
                  <a:srgbClr val="15191F"/>
                </a:solidFill>
                <a:latin typeface="Arial"/>
                <a:ea typeface="Arial"/>
                <a:cs typeface="Arial"/>
              </a:defRPr>
            </a:lvl8pPr>
            <a:lvl9pPr>
              <a:defRPr sz="4500" b="1">
                <a:solidFill>
                  <a:srgbClr val="15191F"/>
                </a:solidFill>
                <a:latin typeface="Arial"/>
                <a:ea typeface="Arial"/>
                <a:cs typeface="Arial"/>
              </a:defRPr>
            </a:lvl9pPr>
          </a:lstStyle>
          <a:p xmlns:a="http://schemas.openxmlformats.org/drawingml/2006/main">
            <a:pPr>
              <a:defRPr sz="4500" b="1">
                <a:solidFill>
                  <a:srgbClr val="15191F"/>
                </a:solidFill>
                <a:latin typeface="Arial"/>
                <a:ea typeface="Arial"/>
                <a:cs typeface="Arial"/>
              </a:defRPr>
            </a:pPr>
            <a:r>
              <a:rPr sz="4500" b="1">
                <a:solidFill>
                  <a:srgbClr val="15191F"/>
                </a:solidFill>
                <a:latin typeface="Arial"/>
                <a:ea typeface="Arial"/>
                <a:cs typeface="Arial"/>
              </a:rPr>
              <a:t>„Tesla“ įvaizdžio gerinimas</a:t>
            </a:r>
          </a:p>
        </p:txBody>
      </p:sp>
      <p:sp>
        <p:nvSpPr>
          <p:cNvPr id="2" name="">
            <a:extLst xmlns:a="http://schemas.openxmlformats.org/drawingml/2006/main">
              <a:ext uri="{FF2B5EF4-FFF2-40B4-BE49-F238E27FC236}">
                <a16:creationId xmlns:a16="http://schemas.microsoft.com/office/drawing/2014/main" id="{0B110218-9A0A-401A-A961-CD04B26EFA21}"/>
              </a:ext>
            </a:extLst>
          </p:cNvPr>
          <p:cNvSpPr>
            <a:spLocks xmlns:a="http://schemas.openxmlformats.org/drawingml/2006/main" noGrp="1"/>
          </p:cNvSpPr>
          <p:nvPr/>
        </p:nvSpPr>
        <p:spPr>
          <a:xfrm xmlns:a="http://schemas.openxmlformats.org/drawingml/2006/main">
            <a:off x="762000" y="3286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9B2632"/>
                </a:solidFill>
                <a:latin typeface="Arial"/>
                <a:ea typeface="Arial"/>
                <a:cs typeface="Arial"/>
              </a:defRPr>
            </a:defPPr>
            <a:lvl1pPr>
              <a:defRPr sz="2400" b="0">
                <a:solidFill>
                  <a:srgbClr val="9B2632"/>
                </a:solidFill>
                <a:latin typeface="Arial"/>
                <a:ea typeface="Arial"/>
                <a:cs typeface="Arial"/>
              </a:defRPr>
            </a:lvl1pPr>
            <a:lvl2pPr>
              <a:defRPr sz="2400" b="0">
                <a:solidFill>
                  <a:srgbClr val="9B2632"/>
                </a:solidFill>
                <a:latin typeface="Arial"/>
                <a:ea typeface="Arial"/>
                <a:cs typeface="Arial"/>
              </a:defRPr>
            </a:lvl2pPr>
            <a:lvl3pPr>
              <a:defRPr sz="2400" b="0">
                <a:solidFill>
                  <a:srgbClr val="9B2632"/>
                </a:solidFill>
                <a:latin typeface="Arial"/>
                <a:ea typeface="Arial"/>
                <a:cs typeface="Arial"/>
              </a:defRPr>
            </a:lvl3pPr>
            <a:lvl4pPr>
              <a:defRPr sz="2400" b="0">
                <a:solidFill>
                  <a:srgbClr val="9B2632"/>
                </a:solidFill>
                <a:latin typeface="Arial"/>
                <a:ea typeface="Arial"/>
                <a:cs typeface="Arial"/>
              </a:defRPr>
            </a:lvl4pPr>
            <a:lvl5pPr>
              <a:defRPr sz="2400" b="0">
                <a:solidFill>
                  <a:srgbClr val="9B2632"/>
                </a:solidFill>
                <a:latin typeface="Arial"/>
                <a:ea typeface="Arial"/>
                <a:cs typeface="Arial"/>
              </a:defRPr>
            </a:lvl5pPr>
            <a:lvl6pPr>
              <a:defRPr sz="2400" b="0">
                <a:solidFill>
                  <a:srgbClr val="9B2632"/>
                </a:solidFill>
                <a:latin typeface="Arial"/>
                <a:ea typeface="Arial"/>
                <a:cs typeface="Arial"/>
              </a:defRPr>
            </a:lvl6pPr>
            <a:lvl7pPr>
              <a:defRPr sz="2400" b="0">
                <a:solidFill>
                  <a:srgbClr val="9B2632"/>
                </a:solidFill>
                <a:latin typeface="Arial"/>
                <a:ea typeface="Arial"/>
                <a:cs typeface="Arial"/>
              </a:defRPr>
            </a:lvl7pPr>
            <a:lvl8pPr>
              <a:defRPr sz="2400" b="0">
                <a:solidFill>
                  <a:srgbClr val="9B2632"/>
                </a:solidFill>
                <a:latin typeface="Arial"/>
                <a:ea typeface="Arial"/>
                <a:cs typeface="Arial"/>
              </a:defRPr>
            </a:lvl8pPr>
            <a:lvl9pPr>
              <a:defRPr sz="2400" b="0">
                <a:solidFill>
                  <a:srgbClr val="9B2632"/>
                </a:solidFill>
                <a:latin typeface="Arial"/>
                <a:ea typeface="Arial"/>
                <a:cs typeface="Arial"/>
              </a:defRPr>
            </a:lvl9pPr>
          </a:lstStyle>
          <a:p xmlns:a="http://schemas.openxmlformats.org/drawingml/2006/main">
            <a:pPr>
              <a:defRPr sz="2400" b="0">
                <a:solidFill>
                  <a:srgbClr val="9B2632"/>
                </a:solidFill>
                <a:latin typeface="Arial"/>
                <a:ea typeface="Arial"/>
                <a:cs typeface="Arial"/>
              </a:defRPr>
            </a:pPr>
            <a:r>
              <a:rPr sz="2400" b="0">
                <a:solidFill>
                  <a:srgbClr val="9B2632"/>
                </a:solidFill>
                <a:latin typeface="Arial"/>
                <a:ea typeface="Arial"/>
                <a:cs typeface="Arial"/>
              </a:rPr>
              <a:t>Kokybės dalies progresas · 2026 m. spalio 29 d.</a:t>
            </a:r>
          </a:p>
        </p:txBody>
      </p:sp>
      <p:sp>
        <p:nvSpPr>
          <p:cNvPr id="3" name="">
            <a:extLst xmlns:a="http://schemas.openxmlformats.org/drawingml/2006/main">
              <a:ext uri="{FF2B5EF4-FFF2-40B4-BE49-F238E27FC236}">
                <a16:creationId xmlns:a16="http://schemas.microsoft.com/office/drawing/2014/main" id="{AE5BABB3-9CF9-4F4F-9D5E-605F1C2C8AC9}"/>
              </a:ext>
            </a:extLst>
          </p:cNvPr>
          <p:cNvSpPr>
            <a:spLocks xmlns:a="http://schemas.openxmlformats.org/drawingml/2006/main" noGrp="1"/>
          </p:cNvSpPr>
          <p:nvPr/>
        </p:nvSpPr>
        <p:spPr>
          <a:xfrm xmlns:a="http://schemas.openxmlformats.org/drawingml/2006/main">
            <a:off x="762000" y="45529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5191F"/>
                </a:solidFill>
                <a:latin typeface="Arial"/>
                <a:ea typeface="Arial"/>
                <a:cs typeface="Arial"/>
              </a:defRPr>
            </a:defPPr>
            <a:lvl1pPr>
              <a:defRPr sz="1950" b="0">
                <a:solidFill>
                  <a:srgbClr val="15191F"/>
                </a:solidFill>
                <a:latin typeface="Arial"/>
                <a:ea typeface="Arial"/>
                <a:cs typeface="Arial"/>
              </a:defRPr>
            </a:lvl1pPr>
            <a:lvl2pPr>
              <a:defRPr sz="1950" b="0">
                <a:solidFill>
                  <a:srgbClr val="15191F"/>
                </a:solidFill>
                <a:latin typeface="Arial"/>
                <a:ea typeface="Arial"/>
                <a:cs typeface="Arial"/>
              </a:defRPr>
            </a:lvl2pPr>
            <a:lvl3pPr>
              <a:defRPr sz="1950" b="0">
                <a:solidFill>
                  <a:srgbClr val="15191F"/>
                </a:solidFill>
                <a:latin typeface="Arial"/>
                <a:ea typeface="Arial"/>
                <a:cs typeface="Arial"/>
              </a:defRPr>
            </a:lvl3pPr>
            <a:lvl4pPr>
              <a:defRPr sz="1950" b="0">
                <a:solidFill>
                  <a:srgbClr val="15191F"/>
                </a:solidFill>
                <a:latin typeface="Arial"/>
                <a:ea typeface="Arial"/>
                <a:cs typeface="Arial"/>
              </a:defRPr>
            </a:lvl4pPr>
            <a:lvl5pPr>
              <a:defRPr sz="1950" b="0">
                <a:solidFill>
                  <a:srgbClr val="15191F"/>
                </a:solidFill>
                <a:latin typeface="Arial"/>
                <a:ea typeface="Arial"/>
                <a:cs typeface="Arial"/>
              </a:defRPr>
            </a:lvl5pPr>
            <a:lvl6pPr>
              <a:defRPr sz="1950" b="0">
                <a:solidFill>
                  <a:srgbClr val="15191F"/>
                </a:solidFill>
                <a:latin typeface="Arial"/>
                <a:ea typeface="Arial"/>
                <a:cs typeface="Arial"/>
              </a:defRPr>
            </a:lvl6pPr>
            <a:lvl7pPr>
              <a:defRPr sz="1950" b="0">
                <a:solidFill>
                  <a:srgbClr val="15191F"/>
                </a:solidFill>
                <a:latin typeface="Arial"/>
                <a:ea typeface="Arial"/>
                <a:cs typeface="Arial"/>
              </a:defRPr>
            </a:lvl7pPr>
            <a:lvl8pPr>
              <a:defRPr sz="1950" b="0">
                <a:solidFill>
                  <a:srgbClr val="15191F"/>
                </a:solidFill>
                <a:latin typeface="Arial"/>
                <a:ea typeface="Arial"/>
                <a:cs typeface="Arial"/>
              </a:defRPr>
            </a:lvl8pPr>
            <a:lvl9pPr>
              <a:defRPr sz="1950" b="0">
                <a:solidFill>
                  <a:srgbClr val="15191F"/>
                </a:solidFill>
                <a:latin typeface="Arial"/>
                <a:ea typeface="Arial"/>
                <a:cs typeface="Arial"/>
              </a:defRPr>
            </a:lvl9pPr>
          </a:lstStyle>
          <a:p xmlns:a="http://schemas.openxmlformats.org/drawingml/2006/main">
            <a:pPr>
              <a:defRPr sz="1950" b="0">
                <a:solidFill>
                  <a:srgbClr val="15191F"/>
                </a:solidFill>
                <a:latin typeface="Arial"/>
                <a:ea typeface="Arial"/>
                <a:cs typeface="Arial"/>
              </a:defRPr>
            </a:pPr>
            <a:r>
              <a:rPr sz="1950" b="0">
                <a:solidFill>
                  <a:srgbClr val="15191F"/>
                </a:solidFill>
                <a:latin typeface="Arial"/>
                <a:ea typeface="Arial"/>
                <a:cs typeface="Arial"/>
              </a:rPr>
              <a:t>Kristupas Kuras, Lukas Račkauskas, Žygimantas Latkauskas</a:t>
            </a:r>
          </a:p>
        </p:txBody>
      </p:sp>
      <p:sp>
        <p:nvSpPr>
          <p:cNvPr id="4" name="">
            <a:extLst xmlns:a="http://schemas.openxmlformats.org/drawingml/2006/main">
              <a:ext uri="{FF2B5EF4-FFF2-40B4-BE49-F238E27FC236}">
                <a16:creationId xmlns:a16="http://schemas.microsoft.com/office/drawing/2014/main" id="{E4C1310E-86CE-4229-869A-286A221FAFB5}"/>
              </a:ext>
            </a:extLst>
          </p:cNvPr>
          <p:cNvSpPr>
            <a:spLocks xmlns:a="http://schemas.openxmlformats.org/drawingml/2006/main" noGrp="1"/>
          </p:cNvSpPr>
          <p:nvPr/>
        </p:nvSpPr>
        <p:spPr>
          <a:xfrm xmlns:a="http://schemas.openxmlformats.org/drawingml/2006/main">
            <a:off x="762000" y="5476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16C"/>
                </a:solidFill>
                <a:latin typeface="Arial"/>
                <a:ea typeface="Arial"/>
                <a:cs typeface="Arial"/>
              </a:defRPr>
            </a:defPPr>
            <a:lvl1pPr>
              <a:defRPr sz="1650" b="0">
                <a:solidFill>
                  <a:srgbClr val="53616C"/>
                </a:solidFill>
                <a:latin typeface="Arial"/>
                <a:ea typeface="Arial"/>
                <a:cs typeface="Arial"/>
              </a:defRPr>
            </a:lvl1pPr>
            <a:lvl2pPr>
              <a:defRPr sz="1650" b="0">
                <a:solidFill>
                  <a:srgbClr val="53616C"/>
                </a:solidFill>
                <a:latin typeface="Arial"/>
                <a:ea typeface="Arial"/>
                <a:cs typeface="Arial"/>
              </a:defRPr>
            </a:lvl2pPr>
            <a:lvl3pPr>
              <a:defRPr sz="1650" b="0">
                <a:solidFill>
                  <a:srgbClr val="53616C"/>
                </a:solidFill>
                <a:latin typeface="Arial"/>
                <a:ea typeface="Arial"/>
                <a:cs typeface="Arial"/>
              </a:defRPr>
            </a:lvl3pPr>
            <a:lvl4pPr>
              <a:defRPr sz="1650" b="0">
                <a:solidFill>
                  <a:srgbClr val="53616C"/>
                </a:solidFill>
                <a:latin typeface="Arial"/>
                <a:ea typeface="Arial"/>
                <a:cs typeface="Arial"/>
              </a:defRPr>
            </a:lvl4pPr>
            <a:lvl5pPr>
              <a:defRPr sz="1650" b="0">
                <a:solidFill>
                  <a:srgbClr val="53616C"/>
                </a:solidFill>
                <a:latin typeface="Arial"/>
                <a:ea typeface="Arial"/>
                <a:cs typeface="Arial"/>
              </a:defRPr>
            </a:lvl5pPr>
            <a:lvl6pPr>
              <a:defRPr sz="1650" b="0">
                <a:solidFill>
                  <a:srgbClr val="53616C"/>
                </a:solidFill>
                <a:latin typeface="Arial"/>
                <a:ea typeface="Arial"/>
                <a:cs typeface="Arial"/>
              </a:defRPr>
            </a:lvl6pPr>
            <a:lvl7pPr>
              <a:defRPr sz="1650" b="0">
                <a:solidFill>
                  <a:srgbClr val="53616C"/>
                </a:solidFill>
                <a:latin typeface="Arial"/>
                <a:ea typeface="Arial"/>
                <a:cs typeface="Arial"/>
              </a:defRPr>
            </a:lvl7pPr>
            <a:lvl8pPr>
              <a:defRPr sz="1650" b="0">
                <a:solidFill>
                  <a:srgbClr val="53616C"/>
                </a:solidFill>
                <a:latin typeface="Arial"/>
                <a:ea typeface="Arial"/>
                <a:cs typeface="Arial"/>
              </a:defRPr>
            </a:lvl8pPr>
            <a:lvl9pPr>
              <a:defRPr sz="1650" b="0">
                <a:solidFill>
                  <a:srgbClr val="53616C"/>
                </a:solidFill>
                <a:latin typeface="Arial"/>
                <a:ea typeface="Arial"/>
                <a:cs typeface="Arial"/>
              </a:defRPr>
            </a:lvl9pPr>
          </a:lstStyle>
          <a:p xmlns:a="http://schemas.openxmlformats.org/drawingml/2006/main">
            <a:pPr>
              <a:defRPr sz="1650" b="0">
                <a:solidFill>
                  <a:srgbClr val="53616C"/>
                </a:solidFill>
                <a:latin typeface="Arial"/>
                <a:ea typeface="Arial"/>
                <a:cs typeface="Arial"/>
              </a:defRPr>
            </a:pPr>
            <a:r>
              <a:rPr sz="1650" b="0">
                <a:solidFill>
                  <a:srgbClr val="53616C"/>
                </a:solidFill>
                <a:latin typeface="Arial"/>
                <a:ea typeface="Arial"/>
                <a:cs typeface="Arial"/>
              </a:rPr>
              <a:t>S190M182 · Tarpinis pristatymas · 2026 m. spalio 29 d.</a:t>
            </a:r>
          </a:p>
        </p:txBody>
      </p:sp>
    </p:spTree>
    <p:extLst>
      <p:ext uri="{BB962C8B-B14F-4D97-AF65-F5344CB8AC3E}">
        <p14:creationId xmlns:p14="http://schemas.microsoft.com/office/powerpoint/2010/main" val="1324676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2A107D-D7D1-490A-AB0C-82FD549B3D77}"/>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Tikslas ir valdoma apimtis</a:t>
            </a:r>
          </a:p>
        </p:txBody>
      </p:sp>
      <p:graphicFrame>
        <p:nvGraphicFramePr>
          <p:cNvPr id="2" name="">
            <a:extLst xmlns:a="http://schemas.openxmlformats.org/drawingml/2006/main">
              <a:ext uri="{FF2B5EF4-FFF2-40B4-BE49-F238E27FC236}">
                <a16:creationId xmlns:a16="http://schemas.microsoft.com/office/drawing/2014/main" id="{4A921840-DCC5-4475-B583-AAAB87CFB0A4}"/>
              </a:ext>
            </a:extLst>
          </p:cNvPr>
          <p:cNvGraphicFramePr/>
          <p:nvPr/>
        </p:nvGraphicFramePr>
        <p:xfrm>
          <a:off xmlns:a="http://schemas.openxmlformats.org/drawingml/2006/main" x="647700" y="1524000"/>
          <a:ext xmlns:a="http://schemas.openxmlformats.org/drawingml/2006/main" cx="10896600" cy="3714750"/>
        </p:xfrm>
        <a:graphic xmlns:a="http://schemas.openxmlformats.org/drawingml/2006/main">
          <a:graphicData uri="http://schemas.openxmlformats.org/drawingml/2006/table">
            <a:tbl>
              <a:tblPr/>
              <a:tblGrid>
                <a:gridCol w="5448300"/>
                <a:gridCol w="5448300"/>
              </a:tblGrid>
              <a:tr h="619125">
                <a:tc>
                  <a:txBody>
                    <a:bodyPr/>
                    <a:lstStyle/>
                    <a:p>
                      <a:r>
                        <a:rPr sz="1875" b="1">
                          <a:solidFill>
                            <a:srgbClr val="FFFFFF"/>
                          </a:solidFill>
                          <a:latin typeface="Arial"/>
                          <a:ea typeface="Arial"/>
                          <a:cs typeface="Arial"/>
                        </a:rPr>
                        <a:t>Rezultatas</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Darbinė apimtis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r>
              <a:tr h="619125">
                <a:tc>
                  <a:txBody>
                    <a:bodyPr/>
                    <a:lstStyle/>
                    <a:p>
                      <a:r>
                        <a:rPr sz="1875" b="0">
                          <a:solidFill>
                            <a:srgbClr val="15191F"/>
                          </a:solidFill>
                          <a:latin typeface="Arial"/>
                          <a:ea typeface="Arial"/>
                          <a:cs typeface="Arial"/>
                        </a:rPr>
                        <a:t>R1 · Komunikacija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Faktais pagrįstas kampanijos turinys</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875" b="0">
                          <a:solidFill>
                            <a:srgbClr val="15191F"/>
                          </a:solidFill>
                          <a:latin typeface="Arial"/>
                          <a:ea typeface="Arial"/>
                          <a:cs typeface="Arial"/>
                        </a:rPr>
                        <a:t>R2 · Renginiai</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2: elektromobilumo + tvarumo renginys</a:t>
                      </a:r>
                    </a:p>
                  </a:txBody>
                  <a:tcPr marL="91440" marR="91440" marT="45720" marB="45720">
                    <a:lnR w="9525">
                      <a:solidFill>
                        <a:srgbClr val="D9D9D9"/>
                      </a:solidFill>
                      <a:prstDash val="solid"/>
                    </a:lnR>
                    <a:lnB w="9525">
                      <a:solidFill>
                        <a:srgbClr val="D9D9D9"/>
                      </a:solidFill>
                      <a:prstDash val="solid"/>
                    </a:lnB>
                    <a:solidFill>
                      <a:srgbClr val="F2F4F6"/>
                    </a:solidFill>
                  </a:tcPr>
                </a:tc>
              </a:tr>
              <a:tr h="619125">
                <a:tc>
                  <a:txBody>
                    <a:bodyPr/>
                    <a:lstStyle/>
                    <a:p>
                      <a:r>
                        <a:rPr sz="1875" b="0">
                          <a:solidFill>
                            <a:srgbClr val="15191F"/>
                          </a:solidFill>
                          <a:latin typeface="Arial"/>
                          <a:ea typeface="Arial"/>
                          <a:cs typeface="Arial"/>
                        </a:rPr>
                        <a:t>R3 · CSR</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2: sodinimas + aplinkos tvarkymas</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875" b="0">
                          <a:solidFill>
                            <a:srgbClr val="15191F"/>
                          </a:solidFill>
                          <a:latin typeface="Arial"/>
                          <a:ea typeface="Arial"/>
                          <a:cs typeface="Arial"/>
                        </a:rPr>
                        <a:t>R4 · Video</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3 per mėnesį; aktyvių mėn. M dar nesuderinta</a:t>
                      </a:r>
                    </a:p>
                  </a:txBody>
                  <a:tcPr marL="91440" marR="91440" marT="45720" marB="45720">
                    <a:lnR w="9525">
                      <a:solidFill>
                        <a:srgbClr val="D9D9D9"/>
                      </a:solidFill>
                      <a:prstDash val="solid"/>
                    </a:lnR>
                    <a:lnB w="9525">
                      <a:solidFill>
                        <a:srgbClr val="D9D9D9"/>
                      </a:solidFill>
                      <a:prstDash val="solid"/>
                    </a:lnB>
                    <a:solidFill>
                      <a:srgbClr val="F2F4F6"/>
                    </a:solidFill>
                  </a:tcPr>
                </a:tc>
              </a:tr>
              <a:tr h="619125">
                <a:tc>
                  <a:txBody>
                    <a:bodyPr/>
                    <a:lstStyle/>
                    <a:p>
                      <a:r>
                        <a:rPr sz="1875" b="0">
                          <a:solidFill>
                            <a:srgbClr val="15191F"/>
                          </a:solidFill>
                          <a:latin typeface="Arial"/>
                          <a:ea typeface="Arial"/>
                          <a:cs typeface="Arial"/>
                        </a:rPr>
                        <a:t>R5 · Poveikis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Žinių ir pasitikėjimo vertinimas prieš / po</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D9D6E15-B24D-482A-8EE8-0AE9C0C14922}"/>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S1: 2 ir 3.2 sk.; S2: 4 lent. (senesnė apimtis).</a:t>
            </a:r>
          </a:p>
        </p:txBody>
      </p:sp>
      <p:sp>
        <p:nvSpPr>
          <p:cNvPr id="4" name="">
            <a:extLst xmlns:a="http://schemas.openxmlformats.org/drawingml/2006/main">
              <a:ext uri="{FF2B5EF4-FFF2-40B4-BE49-F238E27FC236}">
                <a16:creationId xmlns:a16="http://schemas.microsoft.com/office/drawing/2014/main" id="{5C29CF12-2958-4EA3-89C6-8187B7ACFFCF}"/>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02</a:t>
            </a:r>
          </a:p>
        </p:txBody>
      </p:sp>
    </p:spTree>
    <p:extLst>
      <p:ext uri="{BB962C8B-B14F-4D97-AF65-F5344CB8AC3E}">
        <p14:creationId xmlns:p14="http://schemas.microsoft.com/office/powerpoint/2010/main" val="14297128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C898CB-8A0A-4D66-A2F1-D7FBC0167CAC}"/>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Kokybė tikrinama kiekviename etape</a:t>
            </a:r>
          </a:p>
        </p:txBody>
      </p:sp>
      <p:graphicFrame>
        <p:nvGraphicFramePr>
          <p:cNvPr id="2" name="">
            <a:extLst xmlns:a="http://schemas.openxmlformats.org/drawingml/2006/main">
              <a:ext uri="{FF2B5EF4-FFF2-40B4-BE49-F238E27FC236}">
                <a16:creationId xmlns:a16="http://schemas.microsoft.com/office/drawing/2014/main" id="{3C3D5228-FB84-4905-8486-0C76015F784B}"/>
              </a:ext>
            </a:extLst>
          </p:cNvPr>
          <p:cNvGraphicFramePr/>
          <p:nvPr/>
        </p:nvGraphicFramePr>
        <p:xfrm>
          <a:off xmlns:a="http://schemas.openxmlformats.org/drawingml/2006/main" x="647700" y="1524000"/>
          <a:ext xmlns:a="http://schemas.openxmlformats.org/drawingml/2006/main" cx="10896600" cy="3714750"/>
        </p:xfrm>
        <a:graphic xmlns:a="http://schemas.openxmlformats.org/drawingml/2006/main">
          <a:graphicData uri="http://schemas.openxmlformats.org/drawingml/2006/table">
            <a:tbl>
              <a:tblPr/>
              <a:tblGrid>
                <a:gridCol w="3632200"/>
                <a:gridCol w="3632200"/>
                <a:gridCol w="3632200"/>
              </a:tblGrid>
              <a:tr h="619125">
                <a:tc>
                  <a:txBody>
                    <a:bodyPr/>
                    <a:lstStyle/>
                    <a:p>
                      <a:r>
                        <a:rPr sz="1875" b="1">
                          <a:solidFill>
                            <a:srgbClr val="FFFFFF"/>
                          </a:solidFill>
                          <a:latin typeface="Arial"/>
                          <a:ea typeface="Arial"/>
                          <a:cs typeface="Arial"/>
                        </a:rPr>
                        <a:t>Vartai</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Kas turi būti parengta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Priėmimo sąlyga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r>
              <a:tr h="619125">
                <a:tc>
                  <a:txBody>
                    <a:bodyPr/>
                    <a:lstStyle/>
                    <a:p>
                      <a:r>
                        <a:rPr sz="1875" b="0">
                          <a:solidFill>
                            <a:srgbClr val="15191F"/>
                          </a:solidFill>
                          <a:latin typeface="Arial"/>
                          <a:ea typeface="Arial"/>
                          <a:cs typeface="Arial"/>
                        </a:rPr>
                        <a:t>G0 · Bazė</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Apimtis, vaidmenys, datos</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Viena suderinta versija</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875" b="0">
                          <a:solidFill>
                            <a:srgbClr val="15191F"/>
                          </a:solidFill>
                          <a:latin typeface="Arial"/>
                          <a:ea typeface="Arial"/>
                          <a:cs typeface="Arial"/>
                        </a:rPr>
                        <a:t>G1 · Planas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Kriterijai ir matavimas</a:t>
                      </a:r>
                    </a:p>
                  </a:txBody>
                  <a:tcPr marL="91440" marR="91440" marT="45720" marB="45720">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Kiekvienam rezultatui yra patikra</a:t>
                      </a:r>
                    </a:p>
                  </a:txBody>
                  <a:tcPr marL="91440" marR="91440" marT="45720" marB="45720">
                    <a:lnR w="9525">
                      <a:solidFill>
                        <a:srgbClr val="D9D9D9"/>
                      </a:solidFill>
                      <a:prstDash val="solid"/>
                    </a:lnR>
                    <a:lnB w="9525">
                      <a:solidFill>
                        <a:srgbClr val="D9D9D9"/>
                      </a:solidFill>
                      <a:prstDash val="solid"/>
                    </a:lnB>
                    <a:solidFill>
                      <a:srgbClr val="F2F4F6"/>
                    </a:solidFill>
                  </a:tcPr>
                </a:tc>
              </a:tr>
              <a:tr h="619125">
                <a:tc>
                  <a:txBody>
                    <a:bodyPr/>
                    <a:lstStyle/>
                    <a:p>
                      <a:r>
                        <a:rPr sz="1875" b="0">
                          <a:solidFill>
                            <a:srgbClr val="15191F"/>
                          </a:solidFill>
                          <a:latin typeface="Arial"/>
                          <a:ea typeface="Arial"/>
                          <a:cs typeface="Arial"/>
                        </a:rPr>
                        <a:t>G2 · Turinys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Video / pristatymo paketas</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Faktai + formatas + suderinimai</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875" b="0">
                          <a:solidFill>
                            <a:srgbClr val="15191F"/>
                          </a:solidFill>
                          <a:latin typeface="Arial"/>
                          <a:ea typeface="Arial"/>
                          <a:cs typeface="Arial"/>
                        </a:rPr>
                        <a:t>G3 · Veikla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Renginio / CSR pasirengimas</a:t>
                      </a:r>
                    </a:p>
                  </a:txBody>
                  <a:tcPr marL="91440" marR="91440" marT="45720" marB="45720">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Būtini punktai užbaigti</a:t>
                      </a:r>
                    </a:p>
                  </a:txBody>
                  <a:tcPr marL="91440" marR="91440" marT="45720" marB="45720">
                    <a:lnR w="9525">
                      <a:solidFill>
                        <a:srgbClr val="D9D9D9"/>
                      </a:solidFill>
                      <a:prstDash val="solid"/>
                    </a:lnR>
                    <a:lnB w="9525">
                      <a:solidFill>
                        <a:srgbClr val="D9D9D9"/>
                      </a:solidFill>
                      <a:prstDash val="solid"/>
                    </a:lnB>
                    <a:solidFill>
                      <a:srgbClr val="F2F4F6"/>
                    </a:solidFill>
                  </a:tcPr>
                </a:tc>
              </a:tr>
              <a:tr h="619125">
                <a:tc>
                  <a:txBody>
                    <a:bodyPr/>
                    <a:lstStyle/>
                    <a:p>
                      <a:r>
                        <a:rPr sz="1875" b="0">
                          <a:solidFill>
                            <a:srgbClr val="15191F"/>
                          </a:solidFill>
                          <a:latin typeface="Arial"/>
                          <a:ea typeface="Arial"/>
                          <a:cs typeface="Arial"/>
                        </a:rPr>
                        <a:t>G4 · Ataskaita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Duomenys ir įrodymų rodyklė</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Skaičiai atsekami iki šaltinio</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1E91CFA-FB76-4654-8653-A6FD437755A4}"/>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S4: ciklo fazės ir procesai; S1: uždaviniai; naujo plano 2–3 sk.</a:t>
            </a:r>
          </a:p>
        </p:txBody>
      </p:sp>
      <p:sp>
        <p:nvSpPr>
          <p:cNvPr id="4" name="">
            <a:extLst xmlns:a="http://schemas.openxmlformats.org/drawingml/2006/main">
              <a:ext uri="{FF2B5EF4-FFF2-40B4-BE49-F238E27FC236}">
                <a16:creationId xmlns:a16="http://schemas.microsoft.com/office/drawing/2014/main" id="{E194FD3D-E8A7-4CC6-896D-1F1ADECB0B8F}"/>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03</a:t>
            </a:r>
          </a:p>
        </p:txBody>
      </p:sp>
    </p:spTree>
    <p:extLst>
      <p:ext uri="{BB962C8B-B14F-4D97-AF65-F5344CB8AC3E}">
        <p14:creationId xmlns:p14="http://schemas.microsoft.com/office/powerpoint/2010/main" val="2112424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50155C-61A4-4E15-ABDD-D82FE243F072}"/>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Keturi svarbiausi kokybės rodikliai</a:t>
            </a:r>
          </a:p>
        </p:txBody>
      </p:sp>
      <p:graphicFrame>
        <p:nvGraphicFramePr>
          <p:cNvPr id="2" name="">
            <a:extLst xmlns:a="http://schemas.openxmlformats.org/drawingml/2006/main">
              <a:ext uri="{FF2B5EF4-FFF2-40B4-BE49-F238E27FC236}">
                <a16:creationId xmlns:a16="http://schemas.microsoft.com/office/drawing/2014/main" id="{D27B3B53-EC5D-4B1E-B89A-8A573B5A5582}"/>
              </a:ext>
            </a:extLst>
          </p:cNvPr>
          <p:cNvGraphicFramePr/>
          <p:nvPr/>
        </p:nvGraphicFramePr>
        <p:xfrm>
          <a:off xmlns:a="http://schemas.openxmlformats.org/drawingml/2006/main" x="647700" y="1524000"/>
          <a:ext xmlns:a="http://schemas.openxmlformats.org/drawingml/2006/main" cx="10896600" cy="3571875"/>
        </p:xfrm>
        <a:graphic xmlns:a="http://schemas.openxmlformats.org/drawingml/2006/main">
          <a:graphicData uri="http://schemas.openxmlformats.org/drawingml/2006/table">
            <a:tbl>
              <a:tblPr/>
              <a:tblGrid>
                <a:gridCol w="3632200"/>
                <a:gridCol w="3632200"/>
                <a:gridCol w="3632200"/>
              </a:tblGrid>
              <a:tr h="714375">
                <a:tc>
                  <a:txBody>
                    <a:bodyPr/>
                    <a:lstStyle/>
                    <a:p>
                      <a:r>
                        <a:rPr sz="1875" b="1">
                          <a:solidFill>
                            <a:srgbClr val="FFFFFF"/>
                          </a:solidFill>
                          <a:latin typeface="Arial"/>
                          <a:ea typeface="Arial"/>
                          <a:cs typeface="Arial"/>
                        </a:rPr>
                        <a:t>Kriterijus</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Riba / statusas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Patikra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r>
              <a:tr h="714375">
                <a:tc>
                  <a:txBody>
                    <a:bodyPr/>
                    <a:lstStyle/>
                    <a:p>
                      <a:r>
                        <a:rPr sz="1875" b="0">
                          <a:solidFill>
                            <a:srgbClr val="15191F"/>
                          </a:solidFill>
                          <a:latin typeface="Arial"/>
                          <a:ea typeface="Arial"/>
                          <a:cs typeface="Arial"/>
                        </a:rPr>
                        <a:t>K-01 · Teiginių pagrįstumas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Siūloma 100 %</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Pagrįsti / visi esminiai teiginiai</a:t>
                      </a:r>
                    </a:p>
                  </a:txBody>
                  <a:tcPr marL="91440" marR="91440" marT="45720" marB="45720">
                    <a:lnR w="9525">
                      <a:solidFill>
                        <a:srgbClr val="D9D9D9"/>
                      </a:solidFill>
                      <a:prstDash val="solid"/>
                    </a:lnR>
                    <a:lnB w="9525">
                      <a:solidFill>
                        <a:srgbClr val="D9D9D9"/>
                      </a:solidFill>
                      <a:prstDash val="solid"/>
                    </a:lnB>
                    <a:solidFill>
                      <a:srgbClr val="FFFFFF"/>
                    </a:solidFill>
                  </a:tcPr>
                </a:tc>
              </a:tr>
              <a:tr h="714375">
                <a:tc>
                  <a:txBody>
                    <a:bodyPr/>
                    <a:lstStyle/>
                    <a:p>
                      <a:r>
                        <a:rPr sz="1875" b="0">
                          <a:solidFill>
                            <a:srgbClr val="15191F"/>
                          </a:solidFill>
                          <a:latin typeface="Arial"/>
                          <a:ea typeface="Arial"/>
                          <a:cs typeface="Arial"/>
                        </a:rPr>
                        <a:t>K-03 · Kampanijos taikymas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Siūloma 100 %</a:t>
                      </a:r>
                    </a:p>
                  </a:txBody>
                  <a:tcPr marL="91440" marR="91440" marT="45720" marB="45720">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Atitinkantys / būtini nustatymai</a:t>
                      </a:r>
                    </a:p>
                  </a:txBody>
                  <a:tcPr marL="91440" marR="91440" marT="45720" marB="45720">
                    <a:lnR w="9525">
                      <a:solidFill>
                        <a:srgbClr val="D9D9D9"/>
                      </a:solidFill>
                      <a:prstDash val="solid"/>
                    </a:lnR>
                    <a:lnB w="9525">
                      <a:solidFill>
                        <a:srgbClr val="D9D9D9"/>
                      </a:solidFill>
                      <a:prstDash val="solid"/>
                    </a:lnB>
                    <a:solidFill>
                      <a:srgbClr val="F2F4F6"/>
                    </a:solidFill>
                  </a:tcPr>
                </a:tc>
              </a:tr>
              <a:tr h="714375">
                <a:tc>
                  <a:txBody>
                    <a:bodyPr/>
                    <a:lstStyle/>
                    <a:p>
                      <a:r>
                        <a:rPr sz="1875" b="0">
                          <a:solidFill>
                            <a:srgbClr val="15191F"/>
                          </a:solidFill>
                          <a:latin typeface="Arial"/>
                          <a:ea typeface="Arial"/>
                          <a:cs typeface="Arial"/>
                        </a:rPr>
                        <a:t>K-08 · CSR atsekamumas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Siūloma 100 %</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Apskaitytos / visos atliekų rūšys</a:t>
                      </a:r>
                    </a:p>
                  </a:txBody>
                  <a:tcPr marL="91440" marR="91440" marT="45720" marB="45720">
                    <a:lnR w="9525">
                      <a:solidFill>
                        <a:srgbClr val="D9D9D9"/>
                      </a:solidFill>
                      <a:prstDash val="solid"/>
                    </a:lnR>
                    <a:lnB w="9525">
                      <a:solidFill>
                        <a:srgbClr val="D9D9D9"/>
                      </a:solidFill>
                      <a:prstDash val="solid"/>
                    </a:lnB>
                    <a:solidFill>
                      <a:srgbClr val="FFFFFF"/>
                    </a:solidFill>
                  </a:tcPr>
                </a:tc>
              </a:tr>
              <a:tr h="714375">
                <a:tc>
                  <a:txBody>
                    <a:bodyPr/>
                    <a:lstStyle/>
                    <a:p>
                      <a:r>
                        <a:rPr sz="1875" b="0">
                          <a:solidFill>
                            <a:srgbClr val="15191F"/>
                          </a:solidFill>
                          <a:latin typeface="Arial"/>
                          <a:ea typeface="Arial"/>
                          <a:cs typeface="Arial"/>
                        </a:rPr>
                        <a:t>K-09 · Pasitikėjimo pokytis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Siūloma +10 proc. p.</a:t>
                      </a:r>
                    </a:p>
                  </a:txBody>
                  <a:tcPr marL="91440" marR="91440" marT="45720" marB="45720">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Ta pati apklausa prieš / po</a:t>
                      </a:r>
                    </a:p>
                  </a:txBody>
                  <a:tcPr marL="91440" marR="91440" marT="45720" marB="45720">
                    <a:lnR w="9525">
                      <a:solidFill>
                        <a:srgbClr val="D9D9D9"/>
                      </a:solidFill>
                      <a:prstDash val="solid"/>
                    </a:lnR>
                    <a:lnB w="9525">
                      <a:solidFill>
                        <a:srgbClr val="D9D9D9"/>
                      </a:solidFill>
                      <a:prstDash val="solid"/>
                    </a:lnB>
                    <a:solidFill>
                      <a:srgbClr val="F2F4F6"/>
                    </a:solidFill>
                  </a:tcPr>
                </a:tc>
              </a:tr>
            </a:tbl>
          </a:graphicData>
        </a:graphic>
      </p:graphicFrame>
      <p:sp>
        <p:nvSpPr>
          <p:cNvPr id="3" name="">
            <a:extLst xmlns:a="http://schemas.openxmlformats.org/drawingml/2006/main">
              <a:ext uri="{FF2B5EF4-FFF2-40B4-BE49-F238E27FC236}">
                <a16:creationId xmlns:a16="http://schemas.microsoft.com/office/drawing/2014/main" id="{9FB900D7-2A06-4B67-B5C3-BBDE600A9D4D}"/>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Naujo plano 5.1 sk., K-01 / K-03 / K-08 / K-09; ribos – mūsų pasiūlymai.</a:t>
            </a:r>
          </a:p>
        </p:txBody>
      </p:sp>
      <p:sp>
        <p:nvSpPr>
          <p:cNvPr id="4" name="">
            <a:extLst xmlns:a="http://schemas.openxmlformats.org/drawingml/2006/main">
              <a:ext uri="{FF2B5EF4-FFF2-40B4-BE49-F238E27FC236}">
                <a16:creationId xmlns:a16="http://schemas.microsoft.com/office/drawing/2014/main" id="{4C0964F6-1052-475C-BEDB-16314DD731FC}"/>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04</a:t>
            </a:r>
          </a:p>
        </p:txBody>
      </p:sp>
    </p:spTree>
    <p:extLst>
      <p:ext uri="{BB962C8B-B14F-4D97-AF65-F5344CB8AC3E}">
        <p14:creationId xmlns:p14="http://schemas.microsoft.com/office/powerpoint/2010/main" val="4944958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1D35D2-1A41-4A9D-BF1B-91EEF70E479A}"/>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Kas užtikrins ir kontroliuos kokybę?</a:t>
            </a:r>
          </a:p>
        </p:txBody>
      </p:sp>
      <p:sp>
        <p:nvSpPr>
          <p:cNvPr id="2" name="">
            <a:extLst xmlns:a="http://schemas.openxmlformats.org/drawingml/2006/main">
              <a:ext uri="{FF2B5EF4-FFF2-40B4-BE49-F238E27FC236}">
                <a16:creationId xmlns:a16="http://schemas.microsoft.com/office/drawing/2014/main" id="{A2AAB502-FC1C-4794-B164-C89AD98398B7}"/>
              </a:ext>
            </a:extLst>
          </p:cNvPr>
          <p:cNvSpPr>
            <a:spLocks xmlns:a="http://schemas.openxmlformats.org/drawingml/2006/main" noGrp="1"/>
          </p:cNvSpPr>
          <p:nvPr/>
        </p:nvSpPr>
        <p:spPr>
          <a:xfrm xmlns:a="http://schemas.openxmlformats.org/drawingml/2006/main">
            <a:off x="647700" y="15240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16C"/>
                </a:solidFill>
                <a:latin typeface="Arial"/>
                <a:ea typeface="Arial"/>
                <a:cs typeface="Arial"/>
              </a:defRPr>
            </a:defPPr>
            <a:lvl1pPr>
              <a:defRPr sz="1875" b="0">
                <a:solidFill>
                  <a:srgbClr val="53616C"/>
                </a:solidFill>
                <a:latin typeface="Arial"/>
                <a:ea typeface="Arial"/>
                <a:cs typeface="Arial"/>
              </a:defRPr>
            </a:lvl1pPr>
            <a:lvl2pPr>
              <a:defRPr sz="1875" b="0">
                <a:solidFill>
                  <a:srgbClr val="53616C"/>
                </a:solidFill>
                <a:latin typeface="Arial"/>
                <a:ea typeface="Arial"/>
                <a:cs typeface="Arial"/>
              </a:defRPr>
            </a:lvl2pPr>
            <a:lvl3pPr>
              <a:defRPr sz="1875" b="0">
                <a:solidFill>
                  <a:srgbClr val="53616C"/>
                </a:solidFill>
                <a:latin typeface="Arial"/>
                <a:ea typeface="Arial"/>
                <a:cs typeface="Arial"/>
              </a:defRPr>
            </a:lvl3pPr>
            <a:lvl4pPr>
              <a:defRPr sz="1875" b="0">
                <a:solidFill>
                  <a:srgbClr val="53616C"/>
                </a:solidFill>
                <a:latin typeface="Arial"/>
                <a:ea typeface="Arial"/>
                <a:cs typeface="Arial"/>
              </a:defRPr>
            </a:lvl4pPr>
            <a:lvl5pPr>
              <a:defRPr sz="1875" b="0">
                <a:solidFill>
                  <a:srgbClr val="53616C"/>
                </a:solidFill>
                <a:latin typeface="Arial"/>
                <a:ea typeface="Arial"/>
                <a:cs typeface="Arial"/>
              </a:defRPr>
            </a:lvl5pPr>
            <a:lvl6pPr>
              <a:defRPr sz="1875" b="0">
                <a:solidFill>
                  <a:srgbClr val="53616C"/>
                </a:solidFill>
                <a:latin typeface="Arial"/>
                <a:ea typeface="Arial"/>
                <a:cs typeface="Arial"/>
              </a:defRPr>
            </a:lvl6pPr>
            <a:lvl7pPr>
              <a:defRPr sz="1875" b="0">
                <a:solidFill>
                  <a:srgbClr val="53616C"/>
                </a:solidFill>
                <a:latin typeface="Arial"/>
                <a:ea typeface="Arial"/>
                <a:cs typeface="Arial"/>
              </a:defRPr>
            </a:lvl7pPr>
            <a:lvl8pPr>
              <a:defRPr sz="1875" b="0">
                <a:solidFill>
                  <a:srgbClr val="53616C"/>
                </a:solidFill>
                <a:latin typeface="Arial"/>
                <a:ea typeface="Arial"/>
                <a:cs typeface="Arial"/>
              </a:defRPr>
            </a:lvl8pPr>
            <a:lvl9pPr>
              <a:defRPr sz="1875" b="0">
                <a:solidFill>
                  <a:srgbClr val="53616C"/>
                </a:solidFill>
                <a:latin typeface="Arial"/>
                <a:ea typeface="Arial"/>
                <a:cs typeface="Arial"/>
              </a:defRPr>
            </a:lvl9pPr>
          </a:lstStyle>
          <a:p xmlns:a="http://schemas.openxmlformats.org/drawingml/2006/main">
            <a:pPr>
              <a:defRPr sz="1875" b="0">
                <a:solidFill>
                  <a:srgbClr val="53616C"/>
                </a:solidFill>
                <a:latin typeface="Arial"/>
                <a:ea typeface="Arial"/>
                <a:cs typeface="Arial"/>
              </a:defRPr>
            </a:pPr>
            <a:r>
              <a:rPr sz="1875" b="0">
                <a:solidFill>
                  <a:srgbClr val="53616C"/>
                </a:solidFill>
                <a:latin typeface="Arial"/>
                <a:ea typeface="Arial"/>
                <a:cs typeface="Arial"/>
              </a:rPr>
              <a:t>Vaidmenų paskirstymas siūlomas; grupės sudėtis patvirtinta.</a:t>
            </a:r>
          </a:p>
        </p:txBody>
      </p:sp>
      <p:graphicFrame>
        <p:nvGraphicFramePr>
          <p:cNvPr id="3" name="">
            <a:extLst xmlns:a="http://schemas.openxmlformats.org/drawingml/2006/main">
              <a:ext uri="{FF2B5EF4-FFF2-40B4-BE49-F238E27FC236}">
                <a16:creationId xmlns:a16="http://schemas.microsoft.com/office/drawing/2014/main" id="{12D72135-BE87-4DBE-96DE-9720550A4936}"/>
              </a:ext>
            </a:extLst>
          </p:cNvPr>
          <p:cNvGraphicFramePr/>
          <p:nvPr/>
        </p:nvGraphicFramePr>
        <p:xfrm>
          <a:off xmlns:a="http://schemas.openxmlformats.org/drawingml/2006/main" x="647700" y="2381250"/>
          <a:ext xmlns:a="http://schemas.openxmlformats.org/drawingml/2006/main" cx="10896600" cy="2971800"/>
        </p:xfrm>
        <a:graphic xmlns:a="http://schemas.openxmlformats.org/drawingml/2006/main">
          <a:graphicData uri="http://schemas.openxmlformats.org/drawingml/2006/table">
            <a:tbl>
              <a:tblPr/>
              <a:tblGrid>
                <a:gridCol w="3632200"/>
                <a:gridCol w="3632200"/>
                <a:gridCol w="3632200"/>
              </a:tblGrid>
              <a:tr h="742950">
                <a:tc>
                  <a:txBody>
                    <a:bodyPr/>
                    <a:lstStyle/>
                    <a:p>
                      <a:r>
                        <a:rPr sz="1875" b="1">
                          <a:solidFill>
                            <a:srgbClr val="FFFFFF"/>
                          </a:solidFill>
                          <a:latin typeface="Arial"/>
                          <a:ea typeface="Arial"/>
                          <a:cs typeface="Arial"/>
                        </a:rPr>
                        <a:t>Narys</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Rengia / koordinuoja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Peržiūra</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r>
              <a:tr h="742950">
                <a:tc>
                  <a:txBody>
                    <a:bodyPr/>
                    <a:lstStyle/>
                    <a:p>
                      <a:r>
                        <a:rPr sz="1875" b="0">
                          <a:solidFill>
                            <a:srgbClr val="15191F"/>
                          </a:solidFill>
                          <a:latin typeface="Arial"/>
                          <a:ea typeface="Arial"/>
                          <a:cs typeface="Arial"/>
                        </a:rPr>
                        <a:t>Kristupas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Apimtis, renginiai ir CSR</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Žygimantas</a:t>
                      </a:r>
                    </a:p>
                  </a:txBody>
                  <a:tcPr marL="91440" marR="91440" marT="45720" marB="45720">
                    <a:lnR w="9525">
                      <a:solidFill>
                        <a:srgbClr val="D9D9D9"/>
                      </a:solidFill>
                      <a:prstDash val="solid"/>
                    </a:lnR>
                    <a:lnB w="9525">
                      <a:solidFill>
                        <a:srgbClr val="D9D9D9"/>
                      </a:solidFill>
                      <a:prstDash val="solid"/>
                    </a:lnB>
                    <a:solidFill>
                      <a:srgbClr val="FFFFFF"/>
                    </a:solidFill>
                  </a:tcPr>
                </a:tc>
              </a:tr>
              <a:tr h="742950">
                <a:tc>
                  <a:txBody>
                    <a:bodyPr/>
                    <a:lstStyle/>
                    <a:p>
                      <a:r>
                        <a:rPr sz="1875" b="0">
                          <a:solidFill>
                            <a:srgbClr val="15191F"/>
                          </a:solidFill>
                          <a:latin typeface="Arial"/>
                          <a:ea typeface="Arial"/>
                          <a:cs typeface="Arial"/>
                        </a:rPr>
                        <a:t>Lukas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Turinys ir video</a:t>
                      </a:r>
                    </a:p>
                  </a:txBody>
                  <a:tcPr marL="91440" marR="91440" marT="45720" marB="45720">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Žygimantas + Kristupas</a:t>
                      </a:r>
                    </a:p>
                  </a:txBody>
                  <a:tcPr marL="91440" marR="91440" marT="45720" marB="45720">
                    <a:lnR w="9525">
                      <a:solidFill>
                        <a:srgbClr val="D9D9D9"/>
                      </a:solidFill>
                      <a:prstDash val="solid"/>
                    </a:lnR>
                    <a:lnB w="9525">
                      <a:solidFill>
                        <a:srgbClr val="D9D9D9"/>
                      </a:solidFill>
                      <a:prstDash val="solid"/>
                    </a:lnB>
                    <a:solidFill>
                      <a:srgbClr val="F2F4F6"/>
                    </a:solidFill>
                  </a:tcPr>
                </a:tc>
              </a:tr>
              <a:tr h="742950">
                <a:tc>
                  <a:txBody>
                    <a:bodyPr/>
                    <a:lstStyle/>
                    <a:p>
                      <a:r>
                        <a:rPr sz="1875" b="0">
                          <a:solidFill>
                            <a:srgbClr val="15191F"/>
                          </a:solidFill>
                          <a:latin typeface="Arial"/>
                          <a:ea typeface="Arial"/>
                          <a:cs typeface="Arial"/>
                        </a:rPr>
                        <a:t>Žygimantas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Rodikliai ir duomenys</a:t>
                      </a:r>
                    </a:p>
                  </a:txBody>
                  <a:tcPr marL="91440" marR="91440" marT="45720" marB="45720">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Kristupas + Lukas</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2F693C8-95A2-407D-A3E8-9C82041B2A76}"/>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Naujo plano 4.1 ir 5.2 sk.; vardiniai vaidmenys – siūlomi.</a:t>
            </a:r>
          </a:p>
        </p:txBody>
      </p:sp>
      <p:sp>
        <p:nvSpPr>
          <p:cNvPr id="5" name="">
            <a:extLst xmlns:a="http://schemas.openxmlformats.org/drawingml/2006/main">
              <a:ext uri="{FF2B5EF4-FFF2-40B4-BE49-F238E27FC236}">
                <a16:creationId xmlns:a16="http://schemas.microsoft.com/office/drawing/2014/main" id="{7576B4F0-D131-4516-B798-AF2F56FF08A8}"/>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05</a:t>
            </a:r>
          </a:p>
        </p:txBody>
      </p:sp>
    </p:spTree>
    <p:extLst>
      <p:ext uri="{BB962C8B-B14F-4D97-AF65-F5344CB8AC3E}">
        <p14:creationId xmlns:p14="http://schemas.microsoft.com/office/powerpoint/2010/main" val="11204025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0C06F1-07D8-4A49-B1FC-190D53D7DBE6}"/>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Kontrolės pavyzdys: netikslus tvarumo teiginys</a:t>
            </a:r>
          </a:p>
        </p:txBody>
      </p:sp>
      <p:sp>
        <p:nvSpPr>
          <p:cNvPr id="2" name="">
            <a:extLst xmlns:a="http://schemas.openxmlformats.org/drawingml/2006/main">
              <a:ext uri="{FF2B5EF4-FFF2-40B4-BE49-F238E27FC236}">
                <a16:creationId xmlns:a16="http://schemas.microsoft.com/office/drawing/2014/main" id="{50411A3E-2E9A-4178-B69C-35F4F7461578}"/>
              </a:ext>
            </a:extLst>
          </p:cNvPr>
          <p:cNvSpPr>
            <a:spLocks xmlns:a="http://schemas.openxmlformats.org/drawingml/2006/main" noGrp="1"/>
          </p:cNvSpPr>
          <p:nvPr/>
        </p:nvSpPr>
        <p:spPr>
          <a:xfrm xmlns:a="http://schemas.openxmlformats.org/drawingml/2006/main">
            <a:off x="647700" y="15240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16C"/>
                </a:solidFill>
                <a:latin typeface="Arial"/>
                <a:ea typeface="Arial"/>
                <a:cs typeface="Arial"/>
              </a:defRPr>
            </a:defPPr>
            <a:lvl1pPr>
              <a:defRPr sz="1875" b="0">
                <a:solidFill>
                  <a:srgbClr val="53616C"/>
                </a:solidFill>
                <a:latin typeface="Arial"/>
                <a:ea typeface="Arial"/>
                <a:cs typeface="Arial"/>
              </a:defRPr>
            </a:lvl1pPr>
            <a:lvl2pPr>
              <a:defRPr sz="1875" b="0">
                <a:solidFill>
                  <a:srgbClr val="53616C"/>
                </a:solidFill>
                <a:latin typeface="Arial"/>
                <a:ea typeface="Arial"/>
                <a:cs typeface="Arial"/>
              </a:defRPr>
            </a:lvl2pPr>
            <a:lvl3pPr>
              <a:defRPr sz="1875" b="0">
                <a:solidFill>
                  <a:srgbClr val="53616C"/>
                </a:solidFill>
                <a:latin typeface="Arial"/>
                <a:ea typeface="Arial"/>
                <a:cs typeface="Arial"/>
              </a:defRPr>
            </a:lvl3pPr>
            <a:lvl4pPr>
              <a:defRPr sz="1875" b="0">
                <a:solidFill>
                  <a:srgbClr val="53616C"/>
                </a:solidFill>
                <a:latin typeface="Arial"/>
                <a:ea typeface="Arial"/>
                <a:cs typeface="Arial"/>
              </a:defRPr>
            </a:lvl4pPr>
            <a:lvl5pPr>
              <a:defRPr sz="1875" b="0">
                <a:solidFill>
                  <a:srgbClr val="53616C"/>
                </a:solidFill>
                <a:latin typeface="Arial"/>
                <a:ea typeface="Arial"/>
                <a:cs typeface="Arial"/>
              </a:defRPr>
            </a:lvl5pPr>
            <a:lvl6pPr>
              <a:defRPr sz="1875" b="0">
                <a:solidFill>
                  <a:srgbClr val="53616C"/>
                </a:solidFill>
                <a:latin typeface="Arial"/>
                <a:ea typeface="Arial"/>
                <a:cs typeface="Arial"/>
              </a:defRPr>
            </a:lvl6pPr>
            <a:lvl7pPr>
              <a:defRPr sz="1875" b="0">
                <a:solidFill>
                  <a:srgbClr val="53616C"/>
                </a:solidFill>
                <a:latin typeface="Arial"/>
                <a:ea typeface="Arial"/>
                <a:cs typeface="Arial"/>
              </a:defRPr>
            </a:lvl7pPr>
            <a:lvl8pPr>
              <a:defRPr sz="1875" b="0">
                <a:solidFill>
                  <a:srgbClr val="53616C"/>
                </a:solidFill>
                <a:latin typeface="Arial"/>
                <a:ea typeface="Arial"/>
                <a:cs typeface="Arial"/>
              </a:defRPr>
            </a:lvl8pPr>
            <a:lvl9pPr>
              <a:defRPr sz="1875" b="0">
                <a:solidFill>
                  <a:srgbClr val="53616C"/>
                </a:solidFill>
                <a:latin typeface="Arial"/>
                <a:ea typeface="Arial"/>
                <a:cs typeface="Arial"/>
              </a:defRPr>
            </a:lvl9pPr>
          </a:lstStyle>
          <a:p xmlns:a="http://schemas.openxmlformats.org/drawingml/2006/main">
            <a:pPr>
              <a:defRPr sz="1875" b="0">
                <a:solidFill>
                  <a:srgbClr val="53616C"/>
                </a:solidFill>
                <a:latin typeface="Arial"/>
                <a:ea typeface="Arial"/>
                <a:cs typeface="Arial"/>
              </a:defRPr>
            </a:pPr>
            <a:r>
              <a:rPr sz="1875" b="0">
                <a:solidFill>
                  <a:srgbClr val="53616C"/>
                </a:solidFill>
                <a:latin typeface="Arial"/>
                <a:ea typeface="Arial"/>
                <a:cs typeface="Arial"/>
              </a:rPr>
              <a:t>HIPOTETINIS pavyzdys – ne atliktas matavimas.</a:t>
            </a:r>
          </a:p>
        </p:txBody>
      </p:sp>
      <p:sp>
        <p:nvSpPr>
          <p:cNvPr id="3" name="">
            <a:extLst xmlns:a="http://schemas.openxmlformats.org/drawingml/2006/main">
              <a:ext uri="{FF2B5EF4-FFF2-40B4-BE49-F238E27FC236}">
                <a16:creationId xmlns:a16="http://schemas.microsoft.com/office/drawing/2014/main" id="{66AB93CD-B5D1-4D76-9BEF-8D89A8D05876}"/>
              </a:ext>
            </a:extLst>
          </p:cNvPr>
          <p:cNvSpPr>
            <a:spLocks xmlns:a="http://schemas.openxmlformats.org/drawingml/2006/main" noGrp="1"/>
          </p:cNvSpPr>
          <p:nvPr/>
        </p:nvSpPr>
        <p:spPr>
          <a:xfrm xmlns:a="http://schemas.openxmlformats.org/drawingml/2006/main">
            <a:off x="704850" y="2381250"/>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Video juodraštyje 8 esminiai teiginiai; 7 tinkamai pagrįsti.</a:t>
            </a:r>
          </a:p>
        </p:txBody>
      </p:sp>
      <p:sp>
        <p:nvSpPr>
          <p:cNvPr id="4" name="">
            <a:extLst xmlns:a="http://schemas.openxmlformats.org/drawingml/2006/main">
              <a:ext uri="{FF2B5EF4-FFF2-40B4-BE49-F238E27FC236}">
                <a16:creationId xmlns:a16="http://schemas.microsoft.com/office/drawing/2014/main" id="{F9F6B266-EEF0-410A-9E33-D0BC6FA5B634}"/>
              </a:ext>
            </a:extLst>
          </p:cNvPr>
          <p:cNvSpPr>
            <a:spLocks xmlns:a="http://schemas.openxmlformats.org/drawingml/2006/main" noGrp="1"/>
          </p:cNvSpPr>
          <p:nvPr/>
        </p:nvSpPr>
        <p:spPr>
          <a:xfrm xmlns:a="http://schemas.openxmlformats.org/drawingml/2006/main">
            <a:off x="704850" y="3405188"/>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K-01 = 7 / 8 × 100 = 87,5 % → 100 % riba nepasiekta.</a:t>
            </a:r>
          </a:p>
        </p:txBody>
      </p:sp>
      <p:sp>
        <p:nvSpPr>
          <p:cNvPr id="5" name="">
            <a:extLst xmlns:a="http://schemas.openxmlformats.org/drawingml/2006/main">
              <a:ext uri="{FF2B5EF4-FFF2-40B4-BE49-F238E27FC236}">
                <a16:creationId xmlns:a16="http://schemas.microsoft.com/office/drawing/2014/main" id="{43522DE1-4C51-4EA0-8FF4-46271EF13C1F}"/>
              </a:ext>
            </a:extLst>
          </p:cNvPr>
          <p:cNvSpPr>
            <a:spLocks xmlns:a="http://schemas.openxmlformats.org/drawingml/2006/main" noGrp="1"/>
          </p:cNvSpPr>
          <p:nvPr/>
        </p:nvSpPr>
        <p:spPr>
          <a:xfrm xmlns:a="http://schemas.openxmlformats.org/drawingml/2006/main">
            <a:off x="704850" y="4429125"/>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„Visiškai netaršus automobilis“ → pašalinti arba tiksliai pagrįsti ir apriboti.</a:t>
            </a:r>
          </a:p>
        </p:txBody>
      </p:sp>
      <p:sp>
        <p:nvSpPr>
          <p:cNvPr id="6" name="">
            <a:extLst xmlns:a="http://schemas.openxmlformats.org/drawingml/2006/main">
              <a:ext uri="{FF2B5EF4-FFF2-40B4-BE49-F238E27FC236}">
                <a16:creationId xmlns:a16="http://schemas.microsoft.com/office/drawing/2014/main" id="{5B49A33B-3C59-4FB4-9150-E9392386DA18}"/>
              </a:ext>
            </a:extLst>
          </p:cNvPr>
          <p:cNvSpPr>
            <a:spLocks xmlns:a="http://schemas.openxmlformats.org/drawingml/2006/main" noGrp="1"/>
          </p:cNvSpPr>
          <p:nvPr/>
        </p:nvSpPr>
        <p:spPr>
          <a:xfrm xmlns:a="http://schemas.openxmlformats.org/drawingml/2006/main">
            <a:off x="704850" y="5453063"/>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Taisyti versiją → kitas narys tikrina iš naujo → tik tada priimti.</a:t>
            </a:r>
          </a:p>
        </p:txBody>
      </p:sp>
      <p:sp>
        <p:nvSpPr>
          <p:cNvPr id="7" name="">
            <a:extLst xmlns:a="http://schemas.openxmlformats.org/drawingml/2006/main">
              <a:ext uri="{FF2B5EF4-FFF2-40B4-BE49-F238E27FC236}">
                <a16:creationId xmlns:a16="http://schemas.microsoft.com/office/drawing/2014/main" id="{66C83D57-C49C-4C54-9B9A-2A40E50F172B}"/>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Naujo plano 5.2.2 sk.; visi pavyzdžio duomenys hipotetiniai.</a:t>
            </a:r>
          </a:p>
        </p:txBody>
      </p:sp>
      <p:sp>
        <p:nvSpPr>
          <p:cNvPr id="8" name="">
            <a:extLst xmlns:a="http://schemas.openxmlformats.org/drawingml/2006/main">
              <a:ext uri="{FF2B5EF4-FFF2-40B4-BE49-F238E27FC236}">
                <a16:creationId xmlns:a16="http://schemas.microsoft.com/office/drawing/2014/main" id="{ACE2BCBB-2C8A-4278-815B-0F9A4FDED3E4}"/>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06</a:t>
            </a:r>
          </a:p>
        </p:txBody>
      </p:sp>
    </p:spTree>
    <p:extLst>
      <p:ext uri="{BB962C8B-B14F-4D97-AF65-F5344CB8AC3E}">
        <p14:creationId xmlns:p14="http://schemas.microsoft.com/office/powerpoint/2010/main" val="7236351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7605C5-379F-4E0D-853C-209EB4F4CA7E}"/>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Apimties ir biudžeto prielaidos</a:t>
            </a:r>
          </a:p>
        </p:txBody>
      </p:sp>
      <p:graphicFrame>
        <p:nvGraphicFramePr>
          <p:cNvPr id="2" name="">
            <a:extLst xmlns:a="http://schemas.openxmlformats.org/drawingml/2006/main">
              <a:ext uri="{FF2B5EF4-FFF2-40B4-BE49-F238E27FC236}">
                <a16:creationId xmlns:a16="http://schemas.microsoft.com/office/drawing/2014/main" id="{5404EE61-8A80-4349-944F-0C26BD600CF8}"/>
              </a:ext>
            </a:extLst>
          </p:cNvPr>
          <p:cNvGraphicFramePr/>
          <p:nvPr/>
        </p:nvGraphicFramePr>
        <p:xfrm>
          <a:off xmlns:a="http://schemas.openxmlformats.org/drawingml/2006/main" x="647700" y="1524000"/>
          <a:ext xmlns:a="http://schemas.openxmlformats.org/drawingml/2006/main" cx="10896600" cy="3714750"/>
        </p:xfrm>
        <a:graphic xmlns:a="http://schemas.openxmlformats.org/drawingml/2006/main">
          <a:graphicData uri="http://schemas.openxmlformats.org/drawingml/2006/table">
            <a:tbl>
              <a:tblPr/>
              <a:tblGrid>
                <a:gridCol w="5448300"/>
                <a:gridCol w="5448300"/>
              </a:tblGrid>
              <a:tr h="619125">
                <a:tc>
                  <a:txBody>
                    <a:bodyPr/>
                    <a:lstStyle/>
                    <a:p>
                      <a:r>
                        <a:rPr sz="1875" b="1">
                          <a:solidFill>
                            <a:srgbClr val="FFFFFF"/>
                          </a:solidFill>
                          <a:latin typeface="Arial"/>
                          <a:ea typeface="Arial"/>
                          <a:cs typeface="Arial"/>
                        </a:rPr>
                        <a:t>Klausimas</a:t>
                      </a:r>
                    </a:p>
                  </a:txBody>
                  <a:tcPr marL="91440" marR="91440" marT="45720" marB="45720">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c>
                  <a:txBody>
                    <a:bodyPr/>
                    <a:lstStyle/>
                    <a:p>
                      <a:r>
                        <a:rPr sz="1875" b="1">
                          <a:solidFill>
                            <a:srgbClr val="FFFFFF"/>
                          </a:solidFill>
                          <a:latin typeface="Arial"/>
                          <a:ea typeface="Arial"/>
                          <a:cs typeface="Arial"/>
                        </a:rPr>
                        <a:t>Darbinis sprendimas</a:t>
                      </a:r>
                    </a:p>
                  </a:txBody>
                  <a:tcPr marL="91440" marR="91440" marT="45720" marB="45720">
                    <a:lnR w="9525">
                      <a:solidFill>
                        <a:srgbClr val="D9D9D9"/>
                      </a:solidFill>
                      <a:prstDash val="solid"/>
                    </a:lnR>
                    <a:lnT w="9525">
                      <a:solidFill>
                        <a:srgbClr val="D9D9D9"/>
                      </a:solidFill>
                      <a:prstDash val="solid"/>
                    </a:lnT>
                    <a:lnB w="9525">
                      <a:solidFill>
                        <a:srgbClr val="D9D9D9"/>
                      </a:solidFill>
                      <a:prstDash val="solid"/>
                    </a:lnB>
                    <a:solidFill>
                      <a:srgbClr val="9B2632"/>
                    </a:solidFill>
                  </a:tcPr>
                </a:tc>
              </a:tr>
              <a:tr h="619125">
                <a:tc>
                  <a:txBody>
                    <a:bodyPr/>
                    <a:lstStyle/>
                    <a:p>
                      <a:r>
                        <a:rPr sz="1875" b="0">
                          <a:solidFill>
                            <a:srgbClr val="15191F"/>
                          </a:solidFill>
                          <a:latin typeface="Arial"/>
                          <a:ea typeface="Arial"/>
                          <a:cs typeface="Arial"/>
                        </a:rPr>
                        <a:t>2 ar 3 renginiai?</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2 pagal naujesnės ataskaitos uždavinius</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875" b="0">
                          <a:solidFill>
                            <a:srgbClr val="15191F"/>
                          </a:solidFill>
                          <a:latin typeface="Arial"/>
                          <a:ea typeface="Arial"/>
                          <a:cs typeface="Arial"/>
                        </a:rPr>
                        <a:t>2026–2027 m. išlaidos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34 958 + 31 758 = 66 716 EUR</a:t>
                      </a:r>
                    </a:p>
                  </a:txBody>
                  <a:tcPr marL="91440" marR="91440" marT="45720" marB="45720">
                    <a:lnR w="9525">
                      <a:solidFill>
                        <a:srgbClr val="D9D9D9"/>
                      </a:solidFill>
                      <a:prstDash val="solid"/>
                    </a:lnR>
                    <a:lnB w="9525">
                      <a:solidFill>
                        <a:srgbClr val="D9D9D9"/>
                      </a:solidFill>
                      <a:prstDash val="solid"/>
                    </a:lnB>
                    <a:solidFill>
                      <a:srgbClr val="F2F4F6"/>
                    </a:solidFill>
                  </a:tcPr>
                </a:tc>
              </a:tr>
              <a:tr h="619125">
                <a:tc>
                  <a:txBody>
                    <a:bodyPr/>
                    <a:lstStyle/>
                    <a:p>
                      <a:r>
                        <a:rPr sz="1875" b="0">
                          <a:solidFill>
                            <a:srgbClr val="15191F"/>
                          </a:solidFill>
                          <a:latin typeface="Arial"/>
                          <a:ea typeface="Arial"/>
                          <a:cs typeface="Arial"/>
                        </a:rPr>
                        <a:t>Biudžeto statusas</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Siūloma atskaita, ne patvirtintas finansavimas</a:t>
                      </a:r>
                    </a:p>
                  </a:txBody>
                  <a:tcPr marL="91440" marR="91440" marT="45720" marB="45720">
                    <a:lnR w="9525">
                      <a:solidFill>
                        <a:srgbClr val="D9D9D9"/>
                      </a:solidFill>
                      <a:prstDash val="solid"/>
                    </a:lnR>
                    <a:lnB w="9525">
                      <a:solidFill>
                        <a:srgbClr val="D9D9D9"/>
                      </a:solidFill>
                      <a:prstDash val="solid"/>
                    </a:lnB>
                    <a:solidFill>
                      <a:srgbClr val="FFFFFF"/>
                    </a:solidFill>
                  </a:tcPr>
                </a:tc>
              </a:tr>
              <a:tr h="619125">
                <a:tc>
                  <a:txBody>
                    <a:bodyPr/>
                    <a:lstStyle/>
                    <a:p>
                      <a:r>
                        <a:rPr sz="1875" b="0">
                          <a:solidFill>
                            <a:srgbClr val="15191F"/>
                          </a:solidFill>
                          <a:latin typeface="Arial"/>
                          <a:ea typeface="Arial"/>
                          <a:cs typeface="Arial"/>
                        </a:rPr>
                        <a:t>98 474 EUR „reali vertė“</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2F4F6"/>
                    </a:solidFill>
                  </a:tcPr>
                </a:tc>
                <a:tc>
                  <a:txBody>
                    <a:bodyPr/>
                    <a:lstStyle/>
                    <a:p>
                      <a:r>
                        <a:rPr sz="1875" b="0">
                          <a:solidFill>
                            <a:srgbClr val="15191F"/>
                          </a:solidFill>
                          <a:latin typeface="Arial"/>
                          <a:ea typeface="Arial"/>
                          <a:cs typeface="Arial"/>
                        </a:rPr>
                        <a:t>Nesutampa su metinėmis eilutėmis; tikslinti</a:t>
                      </a:r>
                    </a:p>
                  </a:txBody>
                  <a:tcPr marL="91440" marR="91440" marT="45720" marB="45720">
                    <a:lnR w="9525">
                      <a:solidFill>
                        <a:srgbClr val="D9D9D9"/>
                      </a:solidFill>
                      <a:prstDash val="solid"/>
                    </a:lnR>
                    <a:lnB w="9525">
                      <a:solidFill>
                        <a:srgbClr val="D9D9D9"/>
                      </a:solidFill>
                      <a:prstDash val="solid"/>
                    </a:lnB>
                    <a:solidFill>
                      <a:srgbClr val="F2F4F6"/>
                    </a:solidFill>
                  </a:tcPr>
                </a:tc>
              </a:tr>
              <a:tr h="619125">
                <a:tc>
                  <a:txBody>
                    <a:bodyPr/>
                    <a:lstStyle/>
                    <a:p>
                      <a:r>
                        <a:rPr sz="1875" b="0">
                          <a:solidFill>
                            <a:srgbClr val="15191F"/>
                          </a:solidFill>
                          <a:latin typeface="Arial"/>
                          <a:ea typeface="Arial"/>
                          <a:cs typeface="Arial"/>
                        </a:rPr>
                        <a:t>Pajamos / grąža</a:t>
                      </a:r>
                    </a:p>
                  </a:txBody>
                  <a:tcPr marL="91440" marR="91440" marT="45720" marB="45720">
                    <a:lnL w="9525">
                      <a:solidFill>
                        <a:srgbClr val="D9D9D9"/>
                      </a:solidFill>
                      <a:prstDash val="solid"/>
                    </a:lnL>
                    <a:lnR w="9525">
                      <a:solidFill>
                        <a:srgbClr val="D9D9D9"/>
                      </a:solidFill>
                      <a:prstDash val="solid"/>
                    </a:lnR>
                    <a:lnB w="9525">
                      <a:solidFill>
                        <a:srgbClr val="D9D9D9"/>
                      </a:solidFill>
                      <a:prstDash val="solid"/>
                    </a:lnB>
                    <a:solidFill>
                      <a:srgbClr val="FFFFFF"/>
                    </a:solidFill>
                  </a:tcPr>
                </a:tc>
                <a:tc>
                  <a:txBody>
                    <a:bodyPr/>
                    <a:lstStyle/>
                    <a:p>
                      <a:r>
                        <a:rPr sz="1875" b="0">
                          <a:solidFill>
                            <a:srgbClr val="15191F"/>
                          </a:solidFill>
                          <a:latin typeface="Arial"/>
                          <a:ea typeface="Arial"/>
                          <a:cs typeface="Arial"/>
                        </a:rPr>
                        <a:t>Tekstas ir lentelės prieštarauja; nenaudoti</a:t>
                      </a:r>
                    </a:p>
                  </a:txBody>
                  <a:tcPr marL="91440" marR="91440" marT="45720" marB="45720">
                    <a:lnR w="9525">
                      <a:solidFill>
                        <a:srgbClr val="D9D9D9"/>
                      </a:solidFill>
                      <a:prstDash val="solid"/>
                    </a:lnR>
                    <a:lnB w="9525">
                      <a:solidFill>
                        <a:srgbClr val="D9D9D9"/>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C127E34-4545-413F-AFA9-82A6E7B919C7}"/>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S1: 2 sk., 3–4 lent. ir 5 sk. tekstas; atsekamumo žurnalas.</a:t>
            </a:r>
          </a:p>
        </p:txBody>
      </p:sp>
      <p:sp>
        <p:nvSpPr>
          <p:cNvPr id="4" name="">
            <a:extLst xmlns:a="http://schemas.openxmlformats.org/drawingml/2006/main">
              <a:ext uri="{FF2B5EF4-FFF2-40B4-BE49-F238E27FC236}">
                <a16:creationId xmlns:a16="http://schemas.microsoft.com/office/drawing/2014/main" id="{D4299039-2D4E-4ABD-A5F6-0A2A50734046}"/>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07</a:t>
            </a:r>
          </a:p>
        </p:txBody>
      </p:sp>
    </p:spTree>
    <p:extLst>
      <p:ext uri="{BB962C8B-B14F-4D97-AF65-F5344CB8AC3E}">
        <p14:creationId xmlns:p14="http://schemas.microsoft.com/office/powerpoint/2010/main" val="184105831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E21DA9-ABEB-49C1-A348-7F7DA4E9F360}"/>
              </a:ext>
            </a:extLst>
          </p:cNvPr>
          <p:cNvSpPr>
            <a:spLocks xmlns:a="http://schemas.openxmlformats.org/drawingml/2006/main" noGrp="1"/>
          </p:cNvSpPr>
          <p:nvPr/>
        </p:nvSpPr>
        <p:spPr>
          <a:xfrm xmlns:a="http://schemas.openxmlformats.org/drawingml/2006/main">
            <a:off x="609600" y="4191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191F"/>
                </a:solidFill>
                <a:latin typeface="Arial"/>
                <a:ea typeface="Arial"/>
                <a:cs typeface="Arial"/>
              </a:defRPr>
            </a:defPPr>
            <a:lvl1pPr>
              <a:defRPr sz="3300" b="1">
                <a:solidFill>
                  <a:srgbClr val="15191F"/>
                </a:solidFill>
                <a:latin typeface="Arial"/>
                <a:ea typeface="Arial"/>
                <a:cs typeface="Arial"/>
              </a:defRPr>
            </a:lvl1pPr>
            <a:lvl2pPr>
              <a:defRPr sz="3300" b="1">
                <a:solidFill>
                  <a:srgbClr val="15191F"/>
                </a:solidFill>
                <a:latin typeface="Arial"/>
                <a:ea typeface="Arial"/>
                <a:cs typeface="Arial"/>
              </a:defRPr>
            </a:lvl2pPr>
            <a:lvl3pPr>
              <a:defRPr sz="3300" b="1">
                <a:solidFill>
                  <a:srgbClr val="15191F"/>
                </a:solidFill>
                <a:latin typeface="Arial"/>
                <a:ea typeface="Arial"/>
                <a:cs typeface="Arial"/>
              </a:defRPr>
            </a:lvl3pPr>
            <a:lvl4pPr>
              <a:defRPr sz="3300" b="1">
                <a:solidFill>
                  <a:srgbClr val="15191F"/>
                </a:solidFill>
                <a:latin typeface="Arial"/>
                <a:ea typeface="Arial"/>
                <a:cs typeface="Arial"/>
              </a:defRPr>
            </a:lvl4pPr>
            <a:lvl5pPr>
              <a:defRPr sz="3300" b="1">
                <a:solidFill>
                  <a:srgbClr val="15191F"/>
                </a:solidFill>
                <a:latin typeface="Arial"/>
                <a:ea typeface="Arial"/>
                <a:cs typeface="Arial"/>
              </a:defRPr>
            </a:lvl5pPr>
            <a:lvl6pPr>
              <a:defRPr sz="3300" b="1">
                <a:solidFill>
                  <a:srgbClr val="15191F"/>
                </a:solidFill>
                <a:latin typeface="Arial"/>
                <a:ea typeface="Arial"/>
                <a:cs typeface="Arial"/>
              </a:defRPr>
            </a:lvl6pPr>
            <a:lvl7pPr>
              <a:defRPr sz="3300" b="1">
                <a:solidFill>
                  <a:srgbClr val="15191F"/>
                </a:solidFill>
                <a:latin typeface="Arial"/>
                <a:ea typeface="Arial"/>
                <a:cs typeface="Arial"/>
              </a:defRPr>
            </a:lvl7pPr>
            <a:lvl8pPr>
              <a:defRPr sz="3300" b="1">
                <a:solidFill>
                  <a:srgbClr val="15191F"/>
                </a:solidFill>
                <a:latin typeface="Arial"/>
                <a:ea typeface="Arial"/>
                <a:cs typeface="Arial"/>
              </a:defRPr>
            </a:lvl8pPr>
            <a:lvl9pPr>
              <a:defRPr sz="3300" b="1">
                <a:solidFill>
                  <a:srgbClr val="15191F"/>
                </a:solidFill>
                <a:latin typeface="Arial"/>
                <a:ea typeface="Arial"/>
                <a:cs typeface="Arial"/>
              </a:defRPr>
            </a:lvl9pPr>
          </a:lstStyle>
          <a:p xmlns:a="http://schemas.openxmlformats.org/drawingml/2006/main">
            <a:pPr>
              <a:defRPr sz="3300" b="1">
                <a:solidFill>
                  <a:srgbClr val="15191F"/>
                </a:solidFill>
                <a:latin typeface="Arial"/>
                <a:ea typeface="Arial"/>
                <a:cs typeface="Arial"/>
              </a:defRPr>
            </a:pPr>
            <a:r>
              <a:rPr sz="3300" b="1">
                <a:solidFill>
                  <a:srgbClr val="15191F"/>
                </a:solidFill>
                <a:latin typeface="Arial"/>
                <a:ea typeface="Arial"/>
                <a:cs typeface="Arial"/>
              </a:rPr>
              <a:t>Kas parengta ir ką suderinsime toliau?</a:t>
            </a:r>
          </a:p>
        </p:txBody>
      </p:sp>
      <p:sp>
        <p:nvSpPr>
          <p:cNvPr id="2" name="">
            <a:extLst xmlns:a="http://schemas.openxmlformats.org/drawingml/2006/main">
              <a:ext uri="{FF2B5EF4-FFF2-40B4-BE49-F238E27FC236}">
                <a16:creationId xmlns:a16="http://schemas.microsoft.com/office/drawing/2014/main" id="{AC88A176-78C4-4AE6-A087-11414110EC73}"/>
              </a:ext>
            </a:extLst>
          </p:cNvPr>
          <p:cNvSpPr>
            <a:spLocks xmlns:a="http://schemas.openxmlformats.org/drawingml/2006/main" noGrp="1"/>
          </p:cNvSpPr>
          <p:nvPr/>
        </p:nvSpPr>
        <p:spPr>
          <a:xfrm xmlns:a="http://schemas.openxmlformats.org/drawingml/2006/main">
            <a:off x="704850" y="1524000"/>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Parengta: konkreti apimtis, 10 kriterijų, kontrolės eiga ir šaltinių neatitikimų registras.</a:t>
            </a:r>
          </a:p>
        </p:txBody>
      </p:sp>
      <p:sp>
        <p:nvSpPr>
          <p:cNvPr id="3" name="">
            <a:extLst xmlns:a="http://schemas.openxmlformats.org/drawingml/2006/main">
              <a:ext uri="{FF2B5EF4-FFF2-40B4-BE49-F238E27FC236}">
                <a16:creationId xmlns:a16="http://schemas.microsoft.com/office/drawing/2014/main" id="{886E0F1A-4280-423E-941A-DB29351F8EC6}"/>
              </a:ext>
            </a:extLst>
          </p:cNvPr>
          <p:cNvSpPr>
            <a:spLocks xmlns:a="http://schemas.openxmlformats.org/drawingml/2006/main" noGrp="1"/>
          </p:cNvSpPr>
          <p:nvPr/>
        </p:nvSpPr>
        <p:spPr>
          <a:xfrm xmlns:a="http://schemas.openxmlformats.org/drawingml/2006/main">
            <a:off x="704850" y="2547938"/>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Iki pristatymo: peržiūrėti siūlomus vaidmenis, ribas, aktyvius mėnesius ir biudžeto bazę.</a:t>
            </a:r>
          </a:p>
        </p:txBody>
      </p:sp>
      <p:sp>
        <p:nvSpPr>
          <p:cNvPr id="4" name="">
            <a:extLst xmlns:a="http://schemas.openxmlformats.org/drawingml/2006/main">
              <a:ext uri="{FF2B5EF4-FFF2-40B4-BE49-F238E27FC236}">
                <a16:creationId xmlns:a16="http://schemas.microsoft.com/office/drawing/2014/main" id="{634F9CE4-22E4-4B2B-9898-702FA04C16CC}"/>
              </a:ext>
            </a:extLst>
          </p:cNvPr>
          <p:cNvSpPr>
            <a:spLocks xmlns:a="http://schemas.openxmlformats.org/drawingml/2006/main" noGrp="1"/>
          </p:cNvSpPr>
          <p:nvPr/>
        </p:nvSpPr>
        <p:spPr>
          <a:xfrm xmlns:a="http://schemas.openxmlformats.org/drawingml/2006/main">
            <a:off x="704850" y="3571875"/>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Klausimas dėstytojai: ar pasirinkta siauresnė komunikacijos ir CSR apimtis tinkama?</a:t>
            </a:r>
          </a:p>
        </p:txBody>
      </p:sp>
      <p:sp>
        <p:nvSpPr>
          <p:cNvPr id="5" name="">
            <a:extLst xmlns:a="http://schemas.openxmlformats.org/drawingml/2006/main">
              <a:ext uri="{FF2B5EF4-FFF2-40B4-BE49-F238E27FC236}">
                <a16:creationId xmlns:a16="http://schemas.microsoft.com/office/drawing/2014/main" id="{161DEE04-3A12-4362-8194-B0827DDAB777}"/>
              </a:ext>
            </a:extLst>
          </p:cNvPr>
          <p:cNvSpPr>
            <a:spLocks xmlns:a="http://schemas.openxmlformats.org/drawingml/2006/main" noGrp="1"/>
          </p:cNvSpPr>
          <p:nvPr/>
        </p:nvSpPr>
        <p:spPr>
          <a:xfrm xmlns:a="http://schemas.openxmlformats.org/drawingml/2006/main">
            <a:off x="704850" y="4595813"/>
            <a:ext cx="10668000" cy="909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191F"/>
                </a:solidFill>
                <a:latin typeface="Arial"/>
                <a:ea typeface="Arial"/>
                <a:cs typeface="Arial"/>
              </a:defRPr>
            </a:defPPr>
            <a:lvl1pPr>
              <a:defRPr sz="2175" b="0">
                <a:solidFill>
                  <a:srgbClr val="15191F"/>
                </a:solidFill>
                <a:latin typeface="Arial"/>
                <a:ea typeface="Arial"/>
                <a:cs typeface="Arial"/>
              </a:defRPr>
            </a:lvl1pPr>
            <a:lvl2pPr>
              <a:defRPr sz="2175" b="0">
                <a:solidFill>
                  <a:srgbClr val="15191F"/>
                </a:solidFill>
                <a:latin typeface="Arial"/>
                <a:ea typeface="Arial"/>
                <a:cs typeface="Arial"/>
              </a:defRPr>
            </a:lvl2pPr>
            <a:lvl3pPr>
              <a:defRPr sz="2175" b="0">
                <a:solidFill>
                  <a:srgbClr val="15191F"/>
                </a:solidFill>
                <a:latin typeface="Arial"/>
                <a:ea typeface="Arial"/>
                <a:cs typeface="Arial"/>
              </a:defRPr>
            </a:lvl3pPr>
            <a:lvl4pPr>
              <a:defRPr sz="2175" b="0">
                <a:solidFill>
                  <a:srgbClr val="15191F"/>
                </a:solidFill>
                <a:latin typeface="Arial"/>
                <a:ea typeface="Arial"/>
                <a:cs typeface="Arial"/>
              </a:defRPr>
            </a:lvl4pPr>
            <a:lvl5pPr>
              <a:defRPr sz="2175" b="0">
                <a:solidFill>
                  <a:srgbClr val="15191F"/>
                </a:solidFill>
                <a:latin typeface="Arial"/>
                <a:ea typeface="Arial"/>
                <a:cs typeface="Arial"/>
              </a:defRPr>
            </a:lvl5pPr>
            <a:lvl6pPr>
              <a:defRPr sz="2175" b="0">
                <a:solidFill>
                  <a:srgbClr val="15191F"/>
                </a:solidFill>
                <a:latin typeface="Arial"/>
                <a:ea typeface="Arial"/>
                <a:cs typeface="Arial"/>
              </a:defRPr>
            </a:lvl6pPr>
            <a:lvl7pPr>
              <a:defRPr sz="2175" b="0">
                <a:solidFill>
                  <a:srgbClr val="15191F"/>
                </a:solidFill>
                <a:latin typeface="Arial"/>
                <a:ea typeface="Arial"/>
                <a:cs typeface="Arial"/>
              </a:defRPr>
            </a:lvl7pPr>
            <a:lvl8pPr>
              <a:defRPr sz="2175" b="0">
                <a:solidFill>
                  <a:srgbClr val="15191F"/>
                </a:solidFill>
                <a:latin typeface="Arial"/>
                <a:ea typeface="Arial"/>
                <a:cs typeface="Arial"/>
              </a:defRPr>
            </a:lvl8pPr>
            <a:lvl9pPr>
              <a:defRPr sz="2175" b="0">
                <a:solidFill>
                  <a:srgbClr val="15191F"/>
                </a:solidFill>
                <a:latin typeface="Arial"/>
                <a:ea typeface="Arial"/>
                <a:cs typeface="Arial"/>
              </a:defRPr>
            </a:lvl9pPr>
          </a:lstStyle>
          <a:p xmlns:a="http://schemas.openxmlformats.org/drawingml/2006/main">
            <a:pPr>
              <a:defRPr sz="2175" b="0">
                <a:solidFill>
                  <a:srgbClr val="15191F"/>
                </a:solidFill>
                <a:latin typeface="Arial"/>
                <a:ea typeface="Arial"/>
                <a:cs typeface="Arial"/>
              </a:defRPr>
            </a:pPr>
            <a:r>
              <a:rPr sz="2175" b="0">
                <a:solidFill>
                  <a:srgbClr val="15191F"/>
                </a:solidFill>
                <a:latin typeface="Arial"/>
                <a:ea typeface="Arial"/>
                <a:cs typeface="Arial"/>
              </a:rPr>
              <a:t>Toliau: rizikų progresas 11-26; galutinis planas 12-13 23:59.</a:t>
            </a:r>
          </a:p>
        </p:txBody>
      </p:sp>
      <p:sp>
        <p:nvSpPr>
          <p:cNvPr id="6" name="">
            <a:extLst xmlns:a="http://schemas.openxmlformats.org/drawingml/2006/main">
              <a:ext uri="{FF2B5EF4-FFF2-40B4-BE49-F238E27FC236}">
                <a16:creationId xmlns:a16="http://schemas.microsoft.com/office/drawing/2014/main" id="{87A1D951-FC85-44D0-8B61-BBF23EA08D96}"/>
              </a:ext>
            </a:extLst>
          </p:cNvPr>
          <p:cNvSpPr>
            <a:spLocks xmlns:a="http://schemas.openxmlformats.org/drawingml/2006/main" noGrp="1"/>
          </p:cNvSpPr>
          <p:nvPr/>
        </p:nvSpPr>
        <p:spPr>
          <a:xfrm xmlns:a="http://schemas.openxmlformats.org/drawingml/2006/main">
            <a:off x="647700" y="62769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16C"/>
                </a:solidFill>
                <a:latin typeface="Arial"/>
                <a:ea typeface="Arial"/>
                <a:cs typeface="Arial"/>
              </a:defRPr>
            </a:defPPr>
            <a:lvl1pPr>
              <a:defRPr sz="1200" b="0">
                <a:solidFill>
                  <a:srgbClr val="53616C"/>
                </a:solidFill>
                <a:latin typeface="Arial"/>
                <a:ea typeface="Arial"/>
                <a:cs typeface="Arial"/>
              </a:defRPr>
            </a:lvl1pPr>
            <a:lvl2pPr>
              <a:defRPr sz="1200" b="0">
                <a:solidFill>
                  <a:srgbClr val="53616C"/>
                </a:solidFill>
                <a:latin typeface="Arial"/>
                <a:ea typeface="Arial"/>
                <a:cs typeface="Arial"/>
              </a:defRPr>
            </a:lvl2pPr>
            <a:lvl3pPr>
              <a:defRPr sz="1200" b="0">
                <a:solidFill>
                  <a:srgbClr val="53616C"/>
                </a:solidFill>
                <a:latin typeface="Arial"/>
                <a:ea typeface="Arial"/>
                <a:cs typeface="Arial"/>
              </a:defRPr>
            </a:lvl3pPr>
            <a:lvl4pPr>
              <a:defRPr sz="1200" b="0">
                <a:solidFill>
                  <a:srgbClr val="53616C"/>
                </a:solidFill>
                <a:latin typeface="Arial"/>
                <a:ea typeface="Arial"/>
                <a:cs typeface="Arial"/>
              </a:defRPr>
            </a:lvl4pPr>
            <a:lvl5pPr>
              <a:defRPr sz="1200" b="0">
                <a:solidFill>
                  <a:srgbClr val="53616C"/>
                </a:solidFill>
                <a:latin typeface="Arial"/>
                <a:ea typeface="Arial"/>
                <a:cs typeface="Arial"/>
              </a:defRPr>
            </a:lvl5pPr>
            <a:lvl6pPr>
              <a:defRPr sz="1200" b="0">
                <a:solidFill>
                  <a:srgbClr val="53616C"/>
                </a:solidFill>
                <a:latin typeface="Arial"/>
                <a:ea typeface="Arial"/>
                <a:cs typeface="Arial"/>
              </a:defRPr>
            </a:lvl6pPr>
            <a:lvl7pPr>
              <a:defRPr sz="1200" b="0">
                <a:solidFill>
                  <a:srgbClr val="53616C"/>
                </a:solidFill>
                <a:latin typeface="Arial"/>
                <a:ea typeface="Arial"/>
                <a:cs typeface="Arial"/>
              </a:defRPr>
            </a:lvl7pPr>
            <a:lvl8pPr>
              <a:defRPr sz="1200" b="0">
                <a:solidFill>
                  <a:srgbClr val="53616C"/>
                </a:solidFill>
                <a:latin typeface="Arial"/>
                <a:ea typeface="Arial"/>
                <a:cs typeface="Arial"/>
              </a:defRPr>
            </a:lvl8pPr>
            <a:lvl9pPr>
              <a:defRPr sz="1200" b="0">
                <a:solidFill>
                  <a:srgbClr val="53616C"/>
                </a:solidFill>
                <a:latin typeface="Arial"/>
                <a:ea typeface="Arial"/>
                <a:cs typeface="Arial"/>
              </a:defRPr>
            </a:lvl9pPr>
          </a:lstStyle>
          <a:p xmlns:a="http://schemas.openxmlformats.org/drawingml/2006/main">
            <a:pPr>
              <a:defRPr sz="1200" b="0">
                <a:solidFill>
                  <a:srgbClr val="53616C"/>
                </a:solidFill>
                <a:latin typeface="Arial"/>
                <a:ea typeface="Arial"/>
                <a:cs typeface="Arial"/>
              </a:defRPr>
            </a:pPr>
            <a:r>
              <a:rPr sz="1200" b="0">
                <a:solidFill>
                  <a:srgbClr val="53616C"/>
                </a:solidFill>
                <a:latin typeface="Arial"/>
                <a:ea typeface="Arial"/>
                <a:cs typeface="Arial"/>
              </a:rPr>
              <a:t>Naujo plano būsena; Moodle grafikas; S5 14 ir 18 psl.</a:t>
            </a:r>
          </a:p>
        </p:txBody>
      </p:sp>
      <p:sp>
        <p:nvSpPr>
          <p:cNvPr id="7" name="">
            <a:extLst xmlns:a="http://schemas.openxmlformats.org/drawingml/2006/main">
              <a:ext uri="{FF2B5EF4-FFF2-40B4-BE49-F238E27FC236}">
                <a16:creationId xmlns:a16="http://schemas.microsoft.com/office/drawing/2014/main" id="{E87CDA41-D82A-4586-BC64-B047B8435988}"/>
              </a:ext>
            </a:extLst>
          </p:cNvPr>
          <p:cNvSpPr>
            <a:spLocks xmlns:a="http://schemas.openxmlformats.org/drawingml/2006/main" noGrp="1"/>
          </p:cNvSpPr>
          <p:nvPr/>
        </p:nvSpPr>
        <p:spPr>
          <a:xfrm xmlns:a="http://schemas.openxmlformats.org/drawingml/2006/main">
            <a:off x="11049000" y="62388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16C"/>
                </a:solidFill>
                <a:latin typeface="Arial"/>
                <a:ea typeface="Arial"/>
                <a:cs typeface="Arial"/>
              </a:defRPr>
            </a:defPPr>
            <a:lvl1pPr>
              <a:defRPr sz="1500" b="0">
                <a:solidFill>
                  <a:srgbClr val="53616C"/>
                </a:solidFill>
                <a:latin typeface="Arial"/>
                <a:ea typeface="Arial"/>
                <a:cs typeface="Arial"/>
              </a:defRPr>
            </a:lvl1pPr>
            <a:lvl2pPr>
              <a:defRPr sz="1500" b="0">
                <a:solidFill>
                  <a:srgbClr val="53616C"/>
                </a:solidFill>
                <a:latin typeface="Arial"/>
                <a:ea typeface="Arial"/>
                <a:cs typeface="Arial"/>
              </a:defRPr>
            </a:lvl2pPr>
            <a:lvl3pPr>
              <a:defRPr sz="1500" b="0">
                <a:solidFill>
                  <a:srgbClr val="53616C"/>
                </a:solidFill>
                <a:latin typeface="Arial"/>
                <a:ea typeface="Arial"/>
                <a:cs typeface="Arial"/>
              </a:defRPr>
            </a:lvl3pPr>
            <a:lvl4pPr>
              <a:defRPr sz="1500" b="0">
                <a:solidFill>
                  <a:srgbClr val="53616C"/>
                </a:solidFill>
                <a:latin typeface="Arial"/>
                <a:ea typeface="Arial"/>
                <a:cs typeface="Arial"/>
              </a:defRPr>
            </a:lvl4pPr>
            <a:lvl5pPr>
              <a:defRPr sz="1500" b="0">
                <a:solidFill>
                  <a:srgbClr val="53616C"/>
                </a:solidFill>
                <a:latin typeface="Arial"/>
                <a:ea typeface="Arial"/>
                <a:cs typeface="Arial"/>
              </a:defRPr>
            </a:lvl5pPr>
            <a:lvl6pPr>
              <a:defRPr sz="1500" b="0">
                <a:solidFill>
                  <a:srgbClr val="53616C"/>
                </a:solidFill>
                <a:latin typeface="Arial"/>
                <a:ea typeface="Arial"/>
                <a:cs typeface="Arial"/>
              </a:defRPr>
            </a:lvl6pPr>
            <a:lvl7pPr>
              <a:defRPr sz="1500" b="0">
                <a:solidFill>
                  <a:srgbClr val="53616C"/>
                </a:solidFill>
                <a:latin typeface="Arial"/>
                <a:ea typeface="Arial"/>
                <a:cs typeface="Arial"/>
              </a:defRPr>
            </a:lvl7pPr>
            <a:lvl8pPr>
              <a:defRPr sz="1500" b="0">
                <a:solidFill>
                  <a:srgbClr val="53616C"/>
                </a:solidFill>
                <a:latin typeface="Arial"/>
                <a:ea typeface="Arial"/>
                <a:cs typeface="Arial"/>
              </a:defRPr>
            </a:lvl8pPr>
            <a:lvl9pPr>
              <a:defRPr sz="1500" b="0">
                <a:solidFill>
                  <a:srgbClr val="53616C"/>
                </a:solidFill>
                <a:latin typeface="Arial"/>
                <a:ea typeface="Arial"/>
                <a:cs typeface="Arial"/>
              </a:defRPr>
            </a:lvl9pPr>
          </a:lstStyle>
          <a:p xmlns:a="http://schemas.openxmlformats.org/drawingml/2006/main">
            <a:pPr>
              <a:defRPr sz="1500" b="0">
                <a:solidFill>
                  <a:srgbClr val="53616C"/>
                </a:solidFill>
                <a:latin typeface="Arial"/>
                <a:ea typeface="Arial"/>
                <a:cs typeface="Arial"/>
              </a:defRPr>
            </a:pPr>
            <a:r>
              <a:rPr sz="1500" b="0">
                <a:solidFill>
                  <a:srgbClr val="53616C"/>
                </a:solidFill>
                <a:latin typeface="Arial"/>
                <a:ea typeface="Arial"/>
                <a:cs typeface="Arial"/>
              </a:rPr>
              <a:t>08</a:t>
            </a:r>
          </a:p>
        </p:txBody>
      </p:sp>
    </p:spTree>
    <p:extLst>
      <p:ext uri="{BB962C8B-B14F-4D97-AF65-F5344CB8AC3E}">
        <p14:creationId xmlns:p14="http://schemas.microsoft.com/office/powerpoint/2010/main" val="3001622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2026-10-22T08:35:49.3520000Z</dcterms:created>
  <dcterms:modified xsi:type="dcterms:W3CDTF">2026-10-22T08:35:49.3530000Z</dcterms:modified>
</coreProperties>
</file>